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60" r:id="rId5"/>
    <p:sldId id="261" r:id="rId6"/>
    <p:sldId id="274" r:id="rId7"/>
    <p:sldId id="262" r:id="rId8"/>
    <p:sldId id="263" r:id="rId9"/>
    <p:sldId id="264" r:id="rId10"/>
    <p:sldId id="265" r:id="rId11"/>
    <p:sldId id="266" r:id="rId12"/>
    <p:sldId id="267" r:id="rId13"/>
    <p:sldId id="275" r:id="rId14"/>
    <p:sldId id="278" r:id="rId15"/>
    <p:sldId id="277" r:id="rId16"/>
    <p:sldId id="276" r:id="rId17"/>
    <p:sldId id="271" r:id="rId18"/>
    <p:sldId id="273" r:id="rId1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A0C0C"/>
    <a:srgbClr val="D90429"/>
    <a:srgbClr val="E5383B"/>
    <a:srgbClr val="FFB3B3"/>
    <a:srgbClr val="FFFFFF"/>
    <a:srgbClr val="A42328"/>
    <a:srgbClr val="CFD5E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246580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601D5F-D36F-9944-B905-7B2150416E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35C9711-292C-39A3-2A46-0B8CF04EB7D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E229F33-AADD-48A3-7F4F-B06D94AE11B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E354DF-33A2-9A19-B973-90F5BA45A3B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821888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0D319C-1AA5-4F5E-DDE8-44FFCB914C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4653C76-4548-5BCB-0A37-A1751600F32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33FD1AA-0ECD-CDFA-2667-69BC734308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91D489-E691-4F95-FB41-FA1BD914B7A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540320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D1D76E-3EB1-3C81-1426-E63A7C4C8A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4034FD1-8AB7-5F6E-7F0B-D48810CA79A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60FE5C9-6DE2-A020-A136-0690BD0CB18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4377E6-EE3A-B03A-447A-71635882041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562520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B5D98A-26F5-6331-A4F5-A99A67892D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6850504-10F2-5099-0186-3B6A630D0C0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9322AD5-08D7-1429-2D28-A954497CCBA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4FCBEF-D24B-B553-F595-C15762DB5B2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090728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DE38C7-9674-71B6-2A24-7C2934569F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3075C92-BD09-B740-A1E8-EB61F70EC14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E257EB4-A453-F7D0-D7BF-3781F91EF27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A99F4D-7DDF-B363-307D-846EE5D9349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193320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7A0C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1"/>
          <p:cNvSpPr/>
          <p:nvPr/>
        </p:nvSpPr>
        <p:spPr>
          <a:xfrm>
            <a:off x="548640" y="5056632"/>
            <a:ext cx="0" cy="219456"/>
          </a:xfrm>
          <a:prstGeom prst="line">
            <a:avLst/>
          </a:prstGeom>
          <a:noFill/>
          <a:ln w="20320">
            <a:solidFill>
              <a:srgbClr val="D90429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2"/>
          <p:cNvSpPr/>
          <p:nvPr/>
        </p:nvSpPr>
        <p:spPr>
          <a:xfrm>
            <a:off x="789823" y="4878443"/>
            <a:ext cx="0" cy="575833"/>
          </a:xfrm>
          <a:prstGeom prst="line">
            <a:avLst/>
          </a:prstGeom>
          <a:noFill/>
          <a:ln w="20320">
            <a:solidFill>
              <a:srgbClr val="E5383B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1031006" y="4714303"/>
            <a:ext cx="0" cy="904115"/>
          </a:xfrm>
          <a:prstGeom prst="line">
            <a:avLst/>
          </a:prstGeom>
          <a:noFill/>
          <a:ln w="20320">
            <a:solidFill>
              <a:srgbClr val="E5383B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1272189" y="4595641"/>
            <a:ext cx="0" cy="1141439"/>
          </a:xfrm>
          <a:prstGeom prst="line">
            <a:avLst/>
          </a:prstGeom>
          <a:noFill/>
          <a:ln w="20320">
            <a:solidFill>
              <a:srgbClr val="D90429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1513372" y="4553857"/>
            <a:ext cx="0" cy="1225007"/>
          </a:xfrm>
          <a:prstGeom prst="line">
            <a:avLst/>
          </a:prstGeom>
          <a:noFill/>
          <a:ln w="20320">
            <a:solidFill>
              <a:srgbClr val="E5383B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1754555" y="4611372"/>
            <a:ext cx="0" cy="1109976"/>
          </a:xfrm>
          <a:prstGeom prst="line">
            <a:avLst/>
          </a:prstGeom>
          <a:noFill/>
          <a:ln w="20320">
            <a:solidFill>
              <a:srgbClr val="E5383B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1995738" y="4771281"/>
            <a:ext cx="0" cy="790159"/>
          </a:xfrm>
          <a:prstGeom prst="line">
            <a:avLst/>
          </a:prstGeom>
          <a:noFill/>
          <a:ln w="20320">
            <a:solidFill>
              <a:srgbClr val="D90429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2236921" y="5008891"/>
            <a:ext cx="0" cy="314938"/>
          </a:xfrm>
          <a:prstGeom prst="line">
            <a:avLst/>
          </a:prstGeom>
          <a:noFill/>
          <a:ln w="20320">
            <a:solidFill>
              <a:srgbClr val="E5383B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2478104" y="4843540"/>
            <a:ext cx="0" cy="645641"/>
          </a:xfrm>
          <a:prstGeom prst="line">
            <a:avLst/>
          </a:prstGeom>
          <a:noFill/>
          <a:ln w="20320">
            <a:solidFill>
              <a:srgbClr val="E5383B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2719286" y="4634942"/>
            <a:ext cx="0" cy="1062836"/>
          </a:xfrm>
          <a:prstGeom prst="line">
            <a:avLst/>
          </a:prstGeom>
          <a:noFill/>
          <a:ln w="20320">
            <a:solidFill>
              <a:srgbClr val="D90429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2960469" y="4553718"/>
            <a:ext cx="0" cy="1225283"/>
          </a:xfrm>
          <a:prstGeom prst="line">
            <a:avLst/>
          </a:prstGeom>
          <a:noFill/>
          <a:ln w="20320">
            <a:solidFill>
              <a:srgbClr val="E5383B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3201652" y="4644603"/>
            <a:ext cx="0" cy="1043513"/>
          </a:xfrm>
          <a:prstGeom prst="line">
            <a:avLst/>
          </a:prstGeom>
          <a:noFill/>
          <a:ln w="20320">
            <a:solidFill>
              <a:srgbClr val="E5383B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3442835" y="4893597"/>
            <a:ext cx="0" cy="545526"/>
          </a:xfrm>
          <a:prstGeom prst="line">
            <a:avLst/>
          </a:prstGeom>
          <a:noFill/>
          <a:ln w="20320">
            <a:solidFill>
              <a:srgbClr val="D90429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3684018" y="4896424"/>
            <a:ext cx="0" cy="539873"/>
          </a:xfrm>
          <a:prstGeom prst="line">
            <a:avLst/>
          </a:prstGeom>
          <a:noFill/>
          <a:ln w="20320">
            <a:solidFill>
              <a:srgbClr val="E5383B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5"/>
          <p:cNvSpPr/>
          <p:nvPr/>
        </p:nvSpPr>
        <p:spPr>
          <a:xfrm>
            <a:off x="3925201" y="4632653"/>
            <a:ext cx="0" cy="1067415"/>
          </a:xfrm>
          <a:prstGeom prst="line">
            <a:avLst/>
          </a:prstGeom>
          <a:noFill/>
          <a:ln w="20320">
            <a:solidFill>
              <a:srgbClr val="E5383B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6"/>
          <p:cNvSpPr/>
          <p:nvPr/>
        </p:nvSpPr>
        <p:spPr>
          <a:xfrm>
            <a:off x="4166384" y="4558298"/>
            <a:ext cx="0" cy="1216124"/>
          </a:xfrm>
          <a:prstGeom prst="line">
            <a:avLst/>
          </a:prstGeom>
          <a:noFill/>
          <a:ln w="20320">
            <a:solidFill>
              <a:srgbClr val="D90429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7"/>
          <p:cNvSpPr/>
          <p:nvPr/>
        </p:nvSpPr>
        <p:spPr>
          <a:xfrm>
            <a:off x="4407567" y="4729477"/>
            <a:ext cx="0" cy="873765"/>
          </a:xfrm>
          <a:prstGeom prst="line">
            <a:avLst/>
          </a:prstGeom>
          <a:noFill/>
          <a:ln w="20320">
            <a:solidFill>
              <a:srgbClr val="E5383B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8"/>
          <p:cNvSpPr/>
          <p:nvPr/>
        </p:nvSpPr>
        <p:spPr>
          <a:xfrm>
            <a:off x="4648750" y="5034770"/>
            <a:ext cx="0" cy="263179"/>
          </a:xfrm>
          <a:prstGeom prst="line">
            <a:avLst/>
          </a:prstGeom>
          <a:noFill/>
          <a:ln w="20320">
            <a:solidFill>
              <a:srgbClr val="E5383B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19"/>
          <p:cNvSpPr/>
          <p:nvPr/>
        </p:nvSpPr>
        <p:spPr>
          <a:xfrm>
            <a:off x="4889933" y="4689072"/>
            <a:ext cx="0" cy="954576"/>
          </a:xfrm>
          <a:prstGeom prst="line">
            <a:avLst/>
          </a:prstGeom>
          <a:noFill/>
          <a:ln w="20320">
            <a:solidFill>
              <a:srgbClr val="D90429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0"/>
          <p:cNvSpPr/>
          <p:nvPr/>
        </p:nvSpPr>
        <p:spPr>
          <a:xfrm>
            <a:off x="5131116" y="4554321"/>
            <a:ext cx="0" cy="1224078"/>
          </a:xfrm>
          <a:prstGeom prst="line">
            <a:avLst/>
          </a:prstGeom>
          <a:noFill/>
          <a:ln w="20320">
            <a:solidFill>
              <a:srgbClr val="E5383B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1"/>
          <p:cNvSpPr/>
          <p:nvPr/>
        </p:nvSpPr>
        <p:spPr>
          <a:xfrm>
            <a:off x="5372299" y="4733873"/>
            <a:ext cx="0" cy="864975"/>
          </a:xfrm>
          <a:prstGeom prst="line">
            <a:avLst/>
          </a:prstGeom>
          <a:noFill/>
          <a:ln w="20320">
            <a:solidFill>
              <a:srgbClr val="E5383B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2"/>
          <p:cNvSpPr/>
          <p:nvPr/>
        </p:nvSpPr>
        <p:spPr>
          <a:xfrm>
            <a:off x="5613482" y="4980321"/>
            <a:ext cx="0" cy="372079"/>
          </a:xfrm>
          <a:prstGeom prst="line">
            <a:avLst/>
          </a:prstGeom>
          <a:noFill/>
          <a:ln w="20320">
            <a:solidFill>
              <a:srgbClr val="D90429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3"/>
          <p:cNvSpPr/>
          <p:nvPr/>
        </p:nvSpPr>
        <p:spPr>
          <a:xfrm>
            <a:off x="5854665" y="4626570"/>
            <a:ext cx="0" cy="1079581"/>
          </a:xfrm>
          <a:prstGeom prst="line">
            <a:avLst/>
          </a:prstGeom>
          <a:noFill/>
          <a:ln w="20320">
            <a:solidFill>
              <a:srgbClr val="E5383B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4"/>
          <p:cNvSpPr/>
          <p:nvPr/>
        </p:nvSpPr>
        <p:spPr>
          <a:xfrm>
            <a:off x="6095848" y="4584693"/>
            <a:ext cx="0" cy="1163334"/>
          </a:xfrm>
          <a:prstGeom prst="line">
            <a:avLst/>
          </a:prstGeom>
          <a:noFill/>
          <a:ln w="20320">
            <a:solidFill>
              <a:srgbClr val="E5383B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5"/>
          <p:cNvSpPr/>
          <p:nvPr/>
        </p:nvSpPr>
        <p:spPr>
          <a:xfrm>
            <a:off x="6337031" y="4910033"/>
            <a:ext cx="0" cy="512653"/>
          </a:xfrm>
          <a:prstGeom prst="line">
            <a:avLst/>
          </a:prstGeom>
          <a:noFill/>
          <a:ln w="20320">
            <a:solidFill>
              <a:srgbClr val="D90429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6"/>
          <p:cNvSpPr/>
          <p:nvPr/>
        </p:nvSpPr>
        <p:spPr>
          <a:xfrm>
            <a:off x="6578213" y="4751979"/>
            <a:ext cx="0" cy="828763"/>
          </a:xfrm>
          <a:prstGeom prst="line">
            <a:avLst/>
          </a:prstGeom>
          <a:noFill/>
          <a:ln w="20320">
            <a:solidFill>
              <a:srgbClr val="E5383B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7"/>
          <p:cNvSpPr/>
          <p:nvPr/>
        </p:nvSpPr>
        <p:spPr>
          <a:xfrm>
            <a:off x="6819396" y="4554361"/>
            <a:ext cx="0" cy="1223998"/>
          </a:xfrm>
          <a:prstGeom prst="line">
            <a:avLst/>
          </a:prstGeom>
          <a:noFill/>
          <a:ln w="20320">
            <a:solidFill>
              <a:srgbClr val="E5383B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8"/>
          <p:cNvSpPr/>
          <p:nvPr/>
        </p:nvSpPr>
        <p:spPr>
          <a:xfrm>
            <a:off x="7060579" y="4804661"/>
            <a:ext cx="0" cy="723399"/>
          </a:xfrm>
          <a:prstGeom prst="line">
            <a:avLst/>
          </a:prstGeom>
          <a:noFill/>
          <a:ln w="20320">
            <a:solidFill>
              <a:srgbClr val="D90429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29"/>
          <p:cNvSpPr/>
          <p:nvPr/>
        </p:nvSpPr>
        <p:spPr>
          <a:xfrm>
            <a:off x="7301762" y="4817821"/>
            <a:ext cx="0" cy="697078"/>
          </a:xfrm>
          <a:prstGeom prst="line">
            <a:avLst/>
          </a:prstGeom>
          <a:noFill/>
          <a:ln w="20320">
            <a:solidFill>
              <a:srgbClr val="E5383B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0"/>
          <p:cNvSpPr/>
          <p:nvPr/>
        </p:nvSpPr>
        <p:spPr>
          <a:xfrm>
            <a:off x="7542945" y="4553971"/>
            <a:ext cx="0" cy="1224778"/>
          </a:xfrm>
          <a:prstGeom prst="line">
            <a:avLst/>
          </a:prstGeom>
          <a:noFill/>
          <a:ln w="20320">
            <a:solidFill>
              <a:srgbClr val="E5383B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1"/>
          <p:cNvSpPr/>
          <p:nvPr/>
        </p:nvSpPr>
        <p:spPr>
          <a:xfrm>
            <a:off x="7784128" y="4800384"/>
            <a:ext cx="0" cy="731952"/>
          </a:xfrm>
          <a:prstGeom prst="line">
            <a:avLst/>
          </a:prstGeom>
          <a:noFill/>
          <a:ln w="20320">
            <a:solidFill>
              <a:srgbClr val="D90429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2"/>
          <p:cNvSpPr/>
          <p:nvPr/>
        </p:nvSpPr>
        <p:spPr>
          <a:xfrm>
            <a:off x="8025311" y="4790348"/>
            <a:ext cx="0" cy="752023"/>
          </a:xfrm>
          <a:prstGeom prst="line">
            <a:avLst/>
          </a:prstGeom>
          <a:noFill/>
          <a:ln w="20320">
            <a:solidFill>
              <a:srgbClr val="E5383B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3"/>
          <p:cNvSpPr/>
          <p:nvPr/>
        </p:nvSpPr>
        <p:spPr>
          <a:xfrm>
            <a:off x="8266494" y="4556437"/>
            <a:ext cx="0" cy="1219846"/>
          </a:xfrm>
          <a:prstGeom prst="line">
            <a:avLst/>
          </a:prstGeom>
          <a:noFill/>
          <a:ln w="20320">
            <a:solidFill>
              <a:srgbClr val="E5383B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4"/>
          <p:cNvSpPr/>
          <p:nvPr/>
        </p:nvSpPr>
        <p:spPr>
          <a:xfrm>
            <a:off x="8507677" y="4895878"/>
            <a:ext cx="0" cy="540963"/>
          </a:xfrm>
          <a:prstGeom prst="line">
            <a:avLst/>
          </a:prstGeom>
          <a:noFill/>
          <a:ln w="20320">
            <a:solidFill>
              <a:srgbClr val="D90429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5"/>
          <p:cNvSpPr/>
          <p:nvPr/>
        </p:nvSpPr>
        <p:spPr>
          <a:xfrm>
            <a:off x="8748860" y="4682035"/>
            <a:ext cx="0" cy="968651"/>
          </a:xfrm>
          <a:prstGeom prst="line">
            <a:avLst/>
          </a:prstGeom>
          <a:noFill/>
          <a:ln w="20320">
            <a:solidFill>
              <a:srgbClr val="E5383B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6"/>
          <p:cNvSpPr/>
          <p:nvPr/>
        </p:nvSpPr>
        <p:spPr>
          <a:xfrm>
            <a:off x="8990043" y="4605879"/>
            <a:ext cx="0" cy="1120962"/>
          </a:xfrm>
          <a:prstGeom prst="line">
            <a:avLst/>
          </a:prstGeom>
          <a:noFill/>
          <a:ln w="20320">
            <a:solidFill>
              <a:srgbClr val="E5383B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7"/>
          <p:cNvSpPr/>
          <p:nvPr/>
        </p:nvSpPr>
        <p:spPr>
          <a:xfrm>
            <a:off x="9231226" y="5004894"/>
            <a:ext cx="0" cy="322932"/>
          </a:xfrm>
          <a:prstGeom prst="line">
            <a:avLst/>
          </a:prstGeom>
          <a:noFill/>
          <a:ln w="20320">
            <a:solidFill>
              <a:srgbClr val="D90429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8"/>
          <p:cNvSpPr/>
          <p:nvPr/>
        </p:nvSpPr>
        <p:spPr>
          <a:xfrm>
            <a:off x="9472409" y="4566846"/>
            <a:ext cx="0" cy="1199028"/>
          </a:xfrm>
          <a:prstGeom prst="line">
            <a:avLst/>
          </a:prstGeom>
          <a:noFill/>
          <a:ln w="20320">
            <a:solidFill>
              <a:srgbClr val="E5383B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Shape 39"/>
          <p:cNvSpPr/>
          <p:nvPr/>
        </p:nvSpPr>
        <p:spPr>
          <a:xfrm>
            <a:off x="9713592" y="4799446"/>
            <a:ext cx="0" cy="733828"/>
          </a:xfrm>
          <a:prstGeom prst="line">
            <a:avLst/>
          </a:prstGeom>
          <a:noFill/>
          <a:ln w="20320">
            <a:solidFill>
              <a:srgbClr val="E5383B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Shape 40"/>
          <p:cNvSpPr/>
          <p:nvPr/>
        </p:nvSpPr>
        <p:spPr>
          <a:xfrm>
            <a:off x="9954775" y="4713603"/>
            <a:ext cx="0" cy="905513"/>
          </a:xfrm>
          <a:prstGeom prst="line">
            <a:avLst/>
          </a:prstGeom>
          <a:noFill/>
          <a:ln w="20320">
            <a:solidFill>
              <a:srgbClr val="D90429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Shape 41"/>
          <p:cNvSpPr/>
          <p:nvPr/>
        </p:nvSpPr>
        <p:spPr>
          <a:xfrm>
            <a:off x="10195958" y="4613254"/>
            <a:ext cx="0" cy="1106213"/>
          </a:xfrm>
          <a:prstGeom prst="line">
            <a:avLst/>
          </a:prstGeom>
          <a:noFill/>
          <a:ln w="20320">
            <a:solidFill>
              <a:srgbClr val="E5383B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Shape 42"/>
          <p:cNvSpPr/>
          <p:nvPr/>
        </p:nvSpPr>
        <p:spPr>
          <a:xfrm>
            <a:off x="10437141" y="4928883"/>
            <a:ext cx="0" cy="474954"/>
          </a:xfrm>
          <a:prstGeom prst="line">
            <a:avLst/>
          </a:prstGeom>
          <a:noFill/>
          <a:ln w="20320">
            <a:solidFill>
              <a:srgbClr val="E5383B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Shape 43"/>
          <p:cNvSpPr/>
          <p:nvPr/>
        </p:nvSpPr>
        <p:spPr>
          <a:xfrm>
            <a:off x="10678323" y="4554255"/>
            <a:ext cx="0" cy="1224210"/>
          </a:xfrm>
          <a:prstGeom prst="line">
            <a:avLst/>
          </a:prstGeom>
          <a:noFill/>
          <a:ln w="20320">
            <a:solidFill>
              <a:srgbClr val="D90429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Shape 44"/>
          <p:cNvSpPr/>
          <p:nvPr/>
        </p:nvSpPr>
        <p:spPr>
          <a:xfrm>
            <a:off x="10919506" y="4986679"/>
            <a:ext cx="0" cy="359362"/>
          </a:xfrm>
          <a:prstGeom prst="line">
            <a:avLst/>
          </a:prstGeom>
          <a:noFill/>
          <a:ln w="20320">
            <a:solidFill>
              <a:srgbClr val="E5383B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Shape 45"/>
          <p:cNvSpPr/>
          <p:nvPr/>
        </p:nvSpPr>
        <p:spPr>
          <a:xfrm>
            <a:off x="11160689" y="4576355"/>
            <a:ext cx="0" cy="1180011"/>
          </a:xfrm>
          <a:prstGeom prst="line">
            <a:avLst/>
          </a:prstGeom>
          <a:noFill/>
          <a:ln w="20320">
            <a:solidFill>
              <a:srgbClr val="E5383B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Shape 46"/>
          <p:cNvSpPr/>
          <p:nvPr/>
        </p:nvSpPr>
        <p:spPr>
          <a:xfrm>
            <a:off x="11401872" y="4843087"/>
            <a:ext cx="0" cy="646545"/>
          </a:xfrm>
          <a:prstGeom prst="line">
            <a:avLst/>
          </a:prstGeom>
          <a:noFill/>
          <a:ln w="20320">
            <a:solidFill>
              <a:srgbClr val="D90429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7"/>
          <p:cNvSpPr txBox="1"/>
          <p:nvPr/>
        </p:nvSpPr>
        <p:spPr>
          <a:xfrm>
            <a:off x="822960" y="13716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D90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ITI FINAL PROJECT</a:t>
            </a:r>
            <a:endParaRPr lang="en-US" sz="1400" dirty="0"/>
          </a:p>
        </p:txBody>
      </p:sp>
      <p:sp>
        <p:nvSpPr>
          <p:cNvPr id="51" name="Text 48"/>
          <p:cNvSpPr txBox="1"/>
          <p:nvPr/>
        </p:nvSpPr>
        <p:spPr>
          <a:xfrm>
            <a:off x="822960" y="1783080"/>
            <a:ext cx="98755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48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Chirp Spread Spectrum (CSS)</a:t>
            </a:r>
            <a:endParaRPr lang="en-US" sz="4400" dirty="0"/>
          </a:p>
          <a:p>
            <a:pPr marL="0" indent="0">
              <a:lnSpc>
                <a:spcPts val="48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PHY Transmitter</a:t>
            </a:r>
            <a:endParaRPr lang="en-US" sz="4400" dirty="0"/>
          </a:p>
        </p:txBody>
      </p:sp>
      <p:sp>
        <p:nvSpPr>
          <p:cNvPr id="52" name="Text 49"/>
          <p:cNvSpPr txBox="1"/>
          <p:nvPr/>
        </p:nvSpPr>
        <p:spPr>
          <a:xfrm>
            <a:off x="822960" y="342900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IEEE 802.15.4 · 2450 MHz Band — From Floating-Point Model to FPGA Hardware</a:t>
            </a:r>
            <a:endParaRPr lang="en-US" sz="1600" dirty="0"/>
          </a:p>
        </p:txBody>
      </p:sp>
      <p:sp>
        <p:nvSpPr>
          <p:cNvPr id="53" name="Shape 50"/>
          <p:cNvSpPr/>
          <p:nvPr/>
        </p:nvSpPr>
        <p:spPr>
          <a:xfrm>
            <a:off x="822960" y="3977640"/>
            <a:ext cx="2011680" cy="0"/>
          </a:xfrm>
          <a:prstGeom prst="line">
            <a:avLst/>
          </a:prstGeom>
          <a:noFill/>
          <a:ln w="31750">
            <a:solidFill>
              <a:srgbClr val="D9042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51"/>
          <p:cNvSpPr txBox="1"/>
          <p:nvPr/>
        </p:nvSpPr>
        <p:spPr>
          <a:xfrm>
            <a:off x="822960" y="41605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B3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Discussion Presentation  </a:t>
            </a:r>
            <a:endParaRPr lang="en-US" sz="1300" dirty="0">
              <a:solidFill>
                <a:srgbClr val="FFB3B3"/>
              </a:solidFill>
            </a:endParaRPr>
          </a:p>
        </p:txBody>
      </p:sp>
      <p:pic>
        <p:nvPicPr>
          <p:cNvPr id="56" name="Picture 55">
            <a:extLst>
              <a:ext uri="{FF2B5EF4-FFF2-40B4-BE49-F238E27FC236}">
                <a16:creationId xmlns:a16="http://schemas.microsoft.com/office/drawing/2014/main" id="{275327BF-0A6B-32D4-5C6B-9E44814261E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1377" t="8540" r="25113" b="29965"/>
          <a:stretch>
            <a:fillRect/>
          </a:stretch>
        </p:blipFill>
        <p:spPr>
          <a:xfrm>
            <a:off x="10823882" y="74141"/>
            <a:ext cx="1155980" cy="77435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368735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pic>
        <p:nvPicPr>
          <p:cNvPr id="3" name="Image 0" descr="/home/claude/css_pptx/logo_cropp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57255" y="256032"/>
            <a:ext cx="914400" cy="54137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538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704088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7A0C0C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What We'll Cover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548640" y="1783080"/>
            <a:ext cx="5120640" cy="1188720"/>
          </a:xfrm>
          <a:prstGeom prst="roundRect">
            <a:avLst>
              <a:gd name="adj" fmla="val 6154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777240" y="2002536"/>
            <a:ext cx="502920" cy="502920"/>
          </a:xfrm>
          <a:prstGeom prst="ellipse">
            <a:avLst/>
          </a:prstGeom>
          <a:solidFill>
            <a:srgbClr val="C1121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 txBox="1"/>
          <p:nvPr/>
        </p:nvSpPr>
        <p:spPr>
          <a:xfrm>
            <a:off x="777240" y="200253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01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1417320" y="1911096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7A0C0C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What is CSS PHY?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1417320" y="2276856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Definition inside IEEE 802.15.4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5989320" y="1783080"/>
            <a:ext cx="5120640" cy="1188720"/>
          </a:xfrm>
          <a:prstGeom prst="roundRect">
            <a:avLst>
              <a:gd name="adj" fmla="val 6154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6217920" y="2002536"/>
            <a:ext cx="502920" cy="502920"/>
          </a:xfrm>
          <a:prstGeom prst="ellipse">
            <a:avLst/>
          </a:prstGeom>
          <a:solidFill>
            <a:srgbClr val="C1121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 txBox="1"/>
          <p:nvPr/>
        </p:nvSpPr>
        <p:spPr>
          <a:xfrm>
            <a:off x="6217920" y="200253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02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6858000" y="1911096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7A0C0C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Packet Structure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6858000" y="2276856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PPDU format for 250 kbps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548640" y="3200400"/>
            <a:ext cx="5120640" cy="1188720"/>
          </a:xfrm>
          <a:prstGeom prst="roundRect">
            <a:avLst>
              <a:gd name="adj" fmla="val 6154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777240" y="3419856"/>
            <a:ext cx="502920" cy="502920"/>
          </a:xfrm>
          <a:prstGeom prst="ellipse">
            <a:avLst/>
          </a:prstGeom>
          <a:solidFill>
            <a:srgbClr val="C1121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 txBox="1"/>
          <p:nvPr/>
        </p:nvSpPr>
        <p:spPr>
          <a:xfrm>
            <a:off x="777240" y="341985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03</a:t>
            </a:r>
            <a:endParaRPr lang="en-US" sz="1300" dirty="0"/>
          </a:p>
        </p:txBody>
      </p:sp>
      <p:sp>
        <p:nvSpPr>
          <p:cNvPr id="19" name="Text 16"/>
          <p:cNvSpPr txBox="1"/>
          <p:nvPr/>
        </p:nvSpPr>
        <p:spPr>
          <a:xfrm>
            <a:off x="1417320" y="3328416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7A0C0C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Transmitter Architecture</a:t>
            </a:r>
            <a:endParaRPr lang="en-US" sz="1600" dirty="0"/>
          </a:p>
        </p:txBody>
      </p:sp>
      <p:sp>
        <p:nvSpPr>
          <p:cNvPr id="20" name="Text 17"/>
          <p:cNvSpPr txBox="1"/>
          <p:nvPr/>
        </p:nvSpPr>
        <p:spPr>
          <a:xfrm>
            <a:off x="1417320" y="3694176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signal-processing chain, block by block</a:t>
            </a:r>
            <a:endParaRPr lang="en-US" sz="1150" dirty="0"/>
          </a:p>
        </p:txBody>
      </p:sp>
      <p:pic>
        <p:nvPicPr>
          <p:cNvPr id="41" name="Picture 40">
            <a:extLst>
              <a:ext uri="{FF2B5EF4-FFF2-40B4-BE49-F238E27FC236}">
                <a16:creationId xmlns:a16="http://schemas.microsoft.com/office/drawing/2014/main" id="{96124445-AFC6-A538-C97E-2589A156982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9320" y="3172968"/>
            <a:ext cx="5121084" cy="1188823"/>
          </a:xfrm>
          <a:prstGeom prst="rect">
            <a:avLst/>
          </a:prstGeom>
        </p:spPr>
      </p:pic>
      <p:pic>
        <p:nvPicPr>
          <p:cNvPr id="43" name="Picture 42">
            <a:extLst>
              <a:ext uri="{FF2B5EF4-FFF2-40B4-BE49-F238E27FC236}">
                <a16:creationId xmlns:a16="http://schemas.microsoft.com/office/drawing/2014/main" id="{70A41B7B-20BA-572B-384A-A9B7BFB7590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35458" y="4652414"/>
            <a:ext cx="5121084" cy="118882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368735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pic>
        <p:nvPicPr>
          <p:cNvPr id="3" name="Image 0" descr="/home/claude/css_pptx/logo_cropp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57255" y="256032"/>
            <a:ext cx="914400" cy="54137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7" name="Text 0">
            <a:extLst>
              <a:ext uri="{FF2B5EF4-FFF2-40B4-BE49-F238E27FC236}">
                <a16:creationId xmlns:a16="http://schemas.microsoft.com/office/drawing/2014/main" id="{A164A4C0-94A3-EF9D-C184-ED9A143B5B91}"/>
              </a:ext>
            </a:extLst>
          </p:cNvPr>
          <p:cNvSpPr txBox="1"/>
          <p:nvPr/>
        </p:nvSpPr>
        <p:spPr>
          <a:xfrm>
            <a:off x="11368735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11" name="Text 1">
            <a:extLst>
              <a:ext uri="{FF2B5EF4-FFF2-40B4-BE49-F238E27FC236}">
                <a16:creationId xmlns:a16="http://schemas.microsoft.com/office/drawing/2014/main" id="{803AFAC7-12AD-87E2-3950-B4DC14C10F61}"/>
              </a:ext>
            </a:extLst>
          </p:cNvPr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538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DEFINITION</a:t>
            </a:r>
            <a:endParaRPr lang="en-US" sz="1200" dirty="0"/>
          </a:p>
        </p:txBody>
      </p:sp>
      <p:sp>
        <p:nvSpPr>
          <p:cNvPr id="13" name="Text 2">
            <a:extLst>
              <a:ext uri="{FF2B5EF4-FFF2-40B4-BE49-F238E27FC236}">
                <a16:creationId xmlns:a16="http://schemas.microsoft.com/office/drawing/2014/main" id="{EE203E77-9358-297A-9B78-C62D9AC55A45}"/>
              </a:ext>
            </a:extLst>
          </p:cNvPr>
          <p:cNvSpPr txBox="1"/>
          <p:nvPr/>
        </p:nvSpPr>
        <p:spPr>
          <a:xfrm>
            <a:off x="548640" y="658368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7A0C0C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What Is Chirp Spread Spectrum (CSS)?</a:t>
            </a:r>
            <a:endParaRPr lang="en-US" sz="3000" dirty="0"/>
          </a:p>
        </p:txBody>
      </p:sp>
      <p:sp>
        <p:nvSpPr>
          <p:cNvPr id="15" name="Text 3">
            <a:extLst>
              <a:ext uri="{FF2B5EF4-FFF2-40B4-BE49-F238E27FC236}">
                <a16:creationId xmlns:a16="http://schemas.microsoft.com/office/drawing/2014/main" id="{9BBB2ADB-855E-ED4D-80A4-B20C05839534}"/>
              </a:ext>
            </a:extLst>
          </p:cNvPr>
          <p:cNvSpPr txBox="1"/>
          <p:nvPr/>
        </p:nvSpPr>
        <p:spPr>
          <a:xfrm>
            <a:off x="548640" y="1554480"/>
            <a:ext cx="56692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CSS is a spread-spectrum modulation technique that encodes data using chirps, </a:t>
            </a:r>
            <a:r>
              <a:rPr lang="en-US" sz="13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pulses whose frequency sweeps linearly across the channel over time</a:t>
            </a: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instead of transmitting on a fixed carrier frequency.</a:t>
            </a:r>
          </a:p>
          <a:p>
            <a:pPr marL="0" indent="0">
              <a:lnSpc>
                <a:spcPts val="2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Developed by Nanotron, it was adopted into IEEE 802.15.4 in 2007 as an alternate PHY in the 2450 MHz band.</a:t>
            </a:r>
            <a:endParaRPr lang="en-US" sz="1350" dirty="0"/>
          </a:p>
        </p:txBody>
      </p:sp>
      <p:sp>
        <p:nvSpPr>
          <p:cNvPr id="18" name="Shape 4">
            <a:extLst>
              <a:ext uri="{FF2B5EF4-FFF2-40B4-BE49-F238E27FC236}">
                <a16:creationId xmlns:a16="http://schemas.microsoft.com/office/drawing/2014/main" id="{629FB619-B999-8B5D-AF39-6FD0D46C9096}"/>
              </a:ext>
            </a:extLst>
          </p:cNvPr>
          <p:cNvSpPr/>
          <p:nvPr/>
        </p:nvSpPr>
        <p:spPr>
          <a:xfrm>
            <a:off x="548640" y="3163824"/>
            <a:ext cx="91440" cy="91440"/>
          </a:xfrm>
          <a:prstGeom prst="ellipse">
            <a:avLst/>
          </a:prstGeom>
          <a:solidFill>
            <a:srgbClr val="C1121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5">
            <a:extLst>
              <a:ext uri="{FF2B5EF4-FFF2-40B4-BE49-F238E27FC236}">
                <a16:creationId xmlns:a16="http://schemas.microsoft.com/office/drawing/2014/main" id="{B91DF932-956B-DAB5-58E6-7A9EC54884DC}"/>
              </a:ext>
            </a:extLst>
          </p:cNvPr>
          <p:cNvSpPr txBox="1"/>
          <p:nvPr/>
        </p:nvSpPr>
        <p:spPr>
          <a:xfrm>
            <a:off x="822960" y="3035808"/>
            <a:ext cx="5394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chirp is a Linear Frequency Modulated (LFM) pulse as it sweeps across the full channel bandwidth rather than sitting at one frequency.</a:t>
            </a:r>
            <a:endParaRPr lang="en-US" sz="1200" dirty="0"/>
          </a:p>
        </p:txBody>
      </p:sp>
      <p:sp>
        <p:nvSpPr>
          <p:cNvPr id="22" name="Shape 6">
            <a:extLst>
              <a:ext uri="{FF2B5EF4-FFF2-40B4-BE49-F238E27FC236}">
                <a16:creationId xmlns:a16="http://schemas.microsoft.com/office/drawing/2014/main" id="{956A94F8-AED5-9F69-6804-6DED7D0BB033}"/>
              </a:ext>
            </a:extLst>
          </p:cNvPr>
          <p:cNvSpPr/>
          <p:nvPr/>
        </p:nvSpPr>
        <p:spPr>
          <a:xfrm>
            <a:off x="548640" y="3858768"/>
            <a:ext cx="91440" cy="91440"/>
          </a:xfrm>
          <a:prstGeom prst="ellipse">
            <a:avLst/>
          </a:prstGeom>
          <a:solidFill>
            <a:srgbClr val="C1121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7">
            <a:extLst>
              <a:ext uri="{FF2B5EF4-FFF2-40B4-BE49-F238E27FC236}">
                <a16:creationId xmlns:a16="http://schemas.microsoft.com/office/drawing/2014/main" id="{5F1D8BA7-BCDD-7FA0-1973-E1315CD3DA61}"/>
              </a:ext>
            </a:extLst>
          </p:cNvPr>
          <p:cNvSpPr txBox="1"/>
          <p:nvPr/>
        </p:nvSpPr>
        <p:spPr>
          <a:xfrm>
            <a:off x="822960" y="3730752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chirp symbol is built from a pattern of 4 smaller “subchirps” (k = 0,1,2,3).</a:t>
            </a:r>
            <a:endParaRPr lang="en-US" sz="1200" dirty="0"/>
          </a:p>
        </p:txBody>
      </p:sp>
      <p:sp>
        <p:nvSpPr>
          <p:cNvPr id="30" name="Shape 10">
            <a:extLst>
              <a:ext uri="{FF2B5EF4-FFF2-40B4-BE49-F238E27FC236}">
                <a16:creationId xmlns:a16="http://schemas.microsoft.com/office/drawing/2014/main" id="{ED005EFE-D0DD-D711-4789-230A0606FCB6}"/>
              </a:ext>
            </a:extLst>
          </p:cNvPr>
          <p:cNvSpPr/>
          <p:nvPr/>
        </p:nvSpPr>
        <p:spPr>
          <a:xfrm>
            <a:off x="548640" y="4489704"/>
            <a:ext cx="91440" cy="91440"/>
          </a:xfrm>
          <a:prstGeom prst="ellipse">
            <a:avLst/>
          </a:prstGeom>
          <a:solidFill>
            <a:srgbClr val="C1121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11">
            <a:extLst>
              <a:ext uri="{FF2B5EF4-FFF2-40B4-BE49-F238E27FC236}">
                <a16:creationId xmlns:a16="http://schemas.microsoft.com/office/drawing/2014/main" id="{468FF078-A13F-6D69-EF8E-595B7CBBD848}"/>
              </a:ext>
            </a:extLst>
          </p:cNvPr>
          <p:cNvSpPr txBox="1"/>
          <p:nvPr/>
        </p:nvSpPr>
        <p:spPr>
          <a:xfrm>
            <a:off x="822960" y="4361688"/>
            <a:ext cx="5394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Spreading each symbol across the whole bandwidth gives CSS strong immunity to noise and multipath fading.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368735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pic>
        <p:nvPicPr>
          <p:cNvPr id="3" name="Image 0" descr="/home/claude/css_pptx/logo_cropp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57255" y="256032"/>
            <a:ext cx="914400" cy="54137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538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PACKET STRUCTURE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658368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7A0C0C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CSS PHY Protocol Data Unit (PPDU)</a:t>
            </a:r>
            <a:endParaRPr lang="en-US" sz="30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55448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transmission is built from three parts: a synchronization header (preamble + SFD), a PHY header (PHR) carrying the payload length, and the PSDU payload from the MAC layer.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548640" y="2331720"/>
            <a:ext cx="2194560" cy="822960"/>
          </a:xfrm>
          <a:prstGeom prst="rect">
            <a:avLst/>
          </a:prstGeom>
          <a:solidFill>
            <a:srgbClr val="C1121F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 txBox="1"/>
          <p:nvPr/>
        </p:nvSpPr>
        <p:spPr>
          <a:xfrm>
            <a:off x="548640" y="233172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Preamble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2743200" y="2331720"/>
            <a:ext cx="1005840" cy="822960"/>
          </a:xfrm>
          <a:prstGeom prst="rect">
            <a:avLst/>
          </a:prstGeom>
          <a:solidFill>
            <a:srgbClr val="E5383B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 txBox="1"/>
          <p:nvPr/>
        </p:nvSpPr>
        <p:spPr>
          <a:xfrm>
            <a:off x="2743200" y="2331720"/>
            <a:ext cx="1005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SFD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3749040" y="2331720"/>
            <a:ext cx="1005840" cy="822960"/>
          </a:xfrm>
          <a:prstGeom prst="rect">
            <a:avLst/>
          </a:prstGeom>
          <a:solidFill>
            <a:srgbClr val="FFB3B3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 txBox="1"/>
          <p:nvPr/>
        </p:nvSpPr>
        <p:spPr>
          <a:xfrm>
            <a:off x="3749040" y="2331720"/>
            <a:ext cx="1005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PHR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4754880" y="2331720"/>
            <a:ext cx="2743200" cy="822960"/>
          </a:xfrm>
          <a:prstGeom prst="rect">
            <a:avLst/>
          </a:prstGeom>
          <a:solidFill>
            <a:srgbClr val="D90429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 txBox="1"/>
          <p:nvPr/>
        </p:nvSpPr>
        <p:spPr>
          <a:xfrm>
            <a:off x="4754880" y="233172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PSDU (payload)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548640" y="32461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Synchronization header</a:t>
            </a:r>
            <a:endParaRPr lang="en-US" sz="1050" dirty="0"/>
          </a:p>
        </p:txBody>
      </p:sp>
      <p:sp>
        <p:nvSpPr>
          <p:cNvPr id="16" name="Text 13"/>
          <p:cNvSpPr txBox="1"/>
          <p:nvPr/>
        </p:nvSpPr>
        <p:spPr>
          <a:xfrm>
            <a:off x="4206240" y="32461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PHY header + payload</a:t>
            </a:r>
            <a:endParaRPr lang="en-US" sz="105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29468985"/>
              </p:ext>
            </p:extLst>
          </p:nvPr>
        </p:nvGraphicFramePr>
        <p:xfrm>
          <a:off x="441655" y="4147197"/>
          <a:ext cx="10515600" cy="768096"/>
        </p:xfrm>
        <a:graphic>
          <a:graphicData uri="http://schemas.openxmlformats.org/drawingml/2006/table">
            <a:tbl>
              <a:tblPr/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Data Rate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0C0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Preamble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0C0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SFD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0C0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PHR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0C0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PSDU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0C0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250 kbps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 symbols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 symbols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 symbols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variable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8" name="Text 14"/>
          <p:cNvSpPr txBox="1"/>
          <p:nvPr/>
        </p:nvSpPr>
        <p:spPr>
          <a:xfrm>
            <a:off x="548640" y="53492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A0C0C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PHR format (12 bits)</a:t>
            </a:r>
            <a:endParaRPr lang="en-US" sz="1300" dirty="0"/>
          </a:p>
        </p:txBody>
      </p:sp>
      <p:graphicFrame>
        <p:nvGraphicFramePr>
          <p:cNvPr id="1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5715000"/>
          <a:ext cx="7132320" cy="731520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Bits 0–6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Bit 7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Bits 8–11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Length of payload (bytes)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used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Reserved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/home/claude/css_pptx/logo_cropp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57255" y="256032"/>
            <a:ext cx="914400" cy="54137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538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658368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7A0C0C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Transmitter Architecture </a:t>
            </a:r>
            <a:endParaRPr lang="en-US" sz="3000" dirty="0"/>
          </a:p>
        </p:txBody>
      </p:sp>
      <p:pic>
        <p:nvPicPr>
          <p:cNvPr id="41" name="Picture 40">
            <a:extLst>
              <a:ext uri="{FF2B5EF4-FFF2-40B4-BE49-F238E27FC236}">
                <a16:creationId xmlns:a16="http://schemas.microsoft.com/office/drawing/2014/main" id="{B60A0966-2AFF-C13B-6960-CDC007E8C65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38993" y="1312541"/>
            <a:ext cx="3534891" cy="2467943"/>
          </a:xfrm>
          <a:prstGeom prst="rect">
            <a:avLst/>
          </a:prstGeom>
        </p:spPr>
      </p:pic>
      <p:sp>
        <p:nvSpPr>
          <p:cNvPr id="42" name="TextBox 41">
            <a:extLst>
              <a:ext uri="{FF2B5EF4-FFF2-40B4-BE49-F238E27FC236}">
                <a16:creationId xmlns:a16="http://schemas.microsoft.com/office/drawing/2014/main" id="{F7E2BC29-9D7E-E3A4-6783-C14A84C1A5F5}"/>
              </a:ext>
            </a:extLst>
          </p:cNvPr>
          <p:cNvSpPr txBox="1"/>
          <p:nvPr/>
        </p:nvSpPr>
        <p:spPr>
          <a:xfrm>
            <a:off x="1953668" y="427703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graphicFrame>
        <p:nvGraphicFramePr>
          <p:cNvPr id="44" name="Table 43">
            <a:extLst>
              <a:ext uri="{FF2B5EF4-FFF2-40B4-BE49-F238E27FC236}">
                <a16:creationId xmlns:a16="http://schemas.microsoft.com/office/drawing/2014/main" id="{466A5FA6-320E-677B-4B48-5F2CFBFBA94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49430360"/>
              </p:ext>
            </p:extLst>
          </p:nvPr>
        </p:nvGraphicFramePr>
        <p:xfrm>
          <a:off x="2046033" y="3809929"/>
          <a:ext cx="7520813" cy="2467943"/>
        </p:xfrm>
        <a:graphic>
          <a:graphicData uri="http://schemas.openxmlformats.org/drawingml/2006/table">
            <a:tbl>
              <a:tblPr firstRow="1" firstCol="1" lastRow="1" bandRow="1">
                <a:tableStyleId>{5C22544A-7EE6-4342-B048-85BDC9FD1C3A}</a:tableStyleId>
              </a:tblPr>
              <a:tblGrid>
                <a:gridCol w="1455923">
                  <a:extLst>
                    <a:ext uri="{9D8B030D-6E8A-4147-A177-3AD203B41FA5}">
                      <a16:colId xmlns:a16="http://schemas.microsoft.com/office/drawing/2014/main" val="1417368463"/>
                    </a:ext>
                  </a:extLst>
                </a:gridCol>
                <a:gridCol w="1750142">
                  <a:extLst>
                    <a:ext uri="{9D8B030D-6E8A-4147-A177-3AD203B41FA5}">
                      <a16:colId xmlns:a16="http://schemas.microsoft.com/office/drawing/2014/main" val="1306553519"/>
                    </a:ext>
                  </a:extLst>
                </a:gridCol>
                <a:gridCol w="1229032">
                  <a:extLst>
                    <a:ext uri="{9D8B030D-6E8A-4147-A177-3AD203B41FA5}">
                      <a16:colId xmlns:a16="http://schemas.microsoft.com/office/drawing/2014/main" val="3376855333"/>
                    </a:ext>
                  </a:extLst>
                </a:gridCol>
                <a:gridCol w="3085716">
                  <a:extLst>
                    <a:ext uri="{9D8B030D-6E8A-4147-A177-3AD203B41FA5}">
                      <a16:colId xmlns:a16="http://schemas.microsoft.com/office/drawing/2014/main" val="2362726238"/>
                    </a:ext>
                  </a:extLst>
                </a:gridCol>
              </a:tblGrid>
              <a:tr h="364104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200" dirty="0">
                          <a:effectLst/>
                        </a:rPr>
                        <a:t>Signal name</a:t>
                      </a:r>
                      <a:endParaRPr lang="en-US" sz="1200" i="1" dirty="0">
                        <a:effectLst/>
                        <a:latin typeface="Times New Roman" panose="02020603050405020304" pitchFamily="18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68580" marR="68580" marT="0" marB="0">
                    <a:solidFill>
                      <a:srgbClr val="A4232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200" dirty="0">
                          <a:effectLst/>
                        </a:rPr>
                        <a:t>Bit width</a:t>
                      </a:r>
                      <a:endParaRPr lang="en-US" sz="1200" i="1" dirty="0">
                        <a:effectLst/>
                        <a:latin typeface="Times New Roman" panose="02020603050405020304" pitchFamily="18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68580" marR="68580" marT="0" marB="0">
                    <a:solidFill>
                      <a:srgbClr val="A4232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200" dirty="0">
                          <a:effectLst/>
                        </a:rPr>
                        <a:t>Direction</a:t>
                      </a:r>
                      <a:endParaRPr lang="en-US" sz="1200" i="1" dirty="0">
                        <a:effectLst/>
                        <a:latin typeface="Times New Roman" panose="02020603050405020304" pitchFamily="18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68580" marR="68580" marT="0" marB="0">
                    <a:solidFill>
                      <a:srgbClr val="A4232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200" i="1" dirty="0">
                          <a:effectLst/>
                          <a:latin typeface="Times New Roman" panose="02020603050405020304" pitchFamily="18" charset="0"/>
                          <a:ea typeface="Segoe UI" panose="020B0502040204020203" pitchFamily="34" charset="0"/>
                          <a:cs typeface="Segoe UI" panose="020B0502040204020203" pitchFamily="34" charset="0"/>
                        </a:rPr>
                        <a:t>Description</a:t>
                      </a:r>
                    </a:p>
                  </a:txBody>
                  <a:tcPr marL="68580" marR="68580" marT="0" marB="0">
                    <a:solidFill>
                      <a:srgbClr val="A423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8171775"/>
                  </a:ext>
                </a:extLst>
              </a:tr>
              <a:tr h="245320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200" dirty="0">
                          <a:effectLst/>
                        </a:rPr>
                        <a:t>clk</a:t>
                      </a:r>
                      <a:endParaRPr lang="en-US" sz="1200" i="1" dirty="0">
                        <a:effectLst/>
                        <a:latin typeface="Times New Roman" panose="02020603050405020304" pitchFamily="18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68580" marR="68580" marT="0" marB="0">
                    <a:solidFill>
                      <a:srgbClr val="A4232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200" dirty="0">
                          <a:effectLst/>
                        </a:rPr>
                        <a:t>1</a:t>
                      </a:r>
                      <a:endParaRPr lang="en-US" sz="1200" i="1" dirty="0">
                        <a:effectLst/>
                        <a:latin typeface="Times New Roman" panose="02020603050405020304" pitchFamily="18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68580" marR="6858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200">
                          <a:effectLst/>
                        </a:rPr>
                        <a:t>Input</a:t>
                      </a:r>
                      <a:endParaRPr lang="en-US" sz="1200" i="1">
                        <a:effectLst/>
                        <a:latin typeface="Times New Roman" panose="02020603050405020304" pitchFamily="18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68580" marR="6858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200" dirty="0"/>
                        <a:t>System clock</a:t>
                      </a:r>
                      <a:endParaRPr lang="en-US" sz="1200" i="1" dirty="0">
                        <a:effectLst/>
                        <a:latin typeface="Times New Roman" panose="02020603050405020304" pitchFamily="18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68580" marR="68580" marT="0" marB="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23548604"/>
                  </a:ext>
                </a:extLst>
              </a:tr>
              <a:tr h="245320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200" dirty="0">
                          <a:effectLst/>
                        </a:rPr>
                        <a:t>reset</a:t>
                      </a:r>
                      <a:endParaRPr lang="en-US" sz="1200" i="1" dirty="0">
                        <a:effectLst/>
                        <a:latin typeface="Times New Roman" panose="02020603050405020304" pitchFamily="18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68580" marR="68580" marT="0" marB="0">
                    <a:solidFill>
                      <a:srgbClr val="A4232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200">
                          <a:effectLst/>
                        </a:rPr>
                        <a:t>1</a:t>
                      </a:r>
                      <a:endParaRPr lang="en-US" sz="1200" i="1">
                        <a:effectLst/>
                        <a:latin typeface="Times New Roman" panose="02020603050405020304" pitchFamily="18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68580" marR="6858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200" dirty="0">
                          <a:effectLst/>
                        </a:rPr>
                        <a:t>Input</a:t>
                      </a:r>
                      <a:endParaRPr lang="en-US" sz="1200" i="1" dirty="0">
                        <a:effectLst/>
                        <a:latin typeface="Times New Roman" panose="02020603050405020304" pitchFamily="18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68580" marR="6858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200" dirty="0"/>
                        <a:t>System reset</a:t>
                      </a:r>
                      <a:endParaRPr lang="en-US" sz="1200" i="1" dirty="0">
                        <a:effectLst/>
                        <a:latin typeface="Times New Roman" panose="02020603050405020304" pitchFamily="18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68580" marR="68580" marT="0" marB="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55187711"/>
                  </a:ext>
                </a:extLst>
              </a:tr>
              <a:tr h="420273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200" dirty="0" err="1">
                          <a:effectLst/>
                        </a:rPr>
                        <a:t>Start_Tx</a:t>
                      </a:r>
                      <a:endParaRPr lang="en-US" sz="1200" i="1" dirty="0">
                        <a:effectLst/>
                        <a:latin typeface="Times New Roman" panose="02020603050405020304" pitchFamily="18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68580" marR="68580" marT="0" marB="0">
                    <a:solidFill>
                      <a:srgbClr val="A4232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200">
                          <a:effectLst/>
                        </a:rPr>
                        <a:t>1</a:t>
                      </a:r>
                      <a:endParaRPr lang="en-US" sz="1200" i="1">
                        <a:effectLst/>
                        <a:latin typeface="Times New Roman" panose="02020603050405020304" pitchFamily="18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68580" marR="6858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200" dirty="0">
                          <a:effectLst/>
                        </a:rPr>
                        <a:t>Input</a:t>
                      </a:r>
                      <a:endParaRPr lang="en-US" sz="1200" i="1" dirty="0">
                        <a:effectLst/>
                        <a:latin typeface="Times New Roman" panose="02020603050405020304" pitchFamily="18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68580" marR="6858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200" dirty="0"/>
                        <a:t>Signal comes from MAC to PHY to initiate transmission process</a:t>
                      </a:r>
                      <a:endParaRPr lang="en-US" sz="1200" i="1" dirty="0">
                        <a:effectLst/>
                        <a:latin typeface="Times New Roman" panose="02020603050405020304" pitchFamily="18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68580" marR="68580" marT="0" marB="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38503814"/>
                  </a:ext>
                </a:extLst>
              </a:tr>
              <a:tr h="255203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200" dirty="0" err="1">
                          <a:effectLst/>
                        </a:rPr>
                        <a:t>payloadlength</a:t>
                      </a:r>
                      <a:endParaRPr lang="en-US" sz="1200" i="1" dirty="0">
                        <a:effectLst/>
                        <a:latin typeface="Times New Roman" panose="02020603050405020304" pitchFamily="18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68580" marR="68580" marT="0" marB="0">
                    <a:solidFill>
                      <a:srgbClr val="A4232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200">
                          <a:effectLst/>
                        </a:rPr>
                        <a:t>8</a:t>
                      </a:r>
                      <a:endParaRPr lang="en-US" sz="1200" i="1">
                        <a:effectLst/>
                        <a:latin typeface="Times New Roman" panose="02020603050405020304" pitchFamily="18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68580" marR="6858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200">
                          <a:effectLst/>
                        </a:rPr>
                        <a:t>Input</a:t>
                      </a:r>
                      <a:endParaRPr lang="en-US" sz="1200" i="1">
                        <a:effectLst/>
                        <a:latin typeface="Times New Roman" panose="02020603050405020304" pitchFamily="18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68580" marR="6858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200" dirty="0"/>
                        <a:t>Payload length in byte</a:t>
                      </a:r>
                      <a:endParaRPr lang="en-US" sz="1200" i="1" dirty="0">
                        <a:effectLst/>
                        <a:latin typeface="Times New Roman" panose="02020603050405020304" pitchFamily="18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68580" marR="68580" marT="0" marB="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46192276"/>
                  </a:ext>
                </a:extLst>
              </a:tr>
              <a:tr h="420273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200" dirty="0" err="1">
                          <a:effectLst/>
                        </a:rPr>
                        <a:t>done_tx</a:t>
                      </a:r>
                      <a:endParaRPr lang="en-US" sz="1200" i="1" dirty="0">
                        <a:effectLst/>
                        <a:latin typeface="Times New Roman" panose="02020603050405020304" pitchFamily="18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68580" marR="68580" marT="0" marB="0">
                    <a:solidFill>
                      <a:srgbClr val="A4232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200" dirty="0">
                          <a:effectLst/>
                        </a:rPr>
                        <a:t>1</a:t>
                      </a:r>
                      <a:endParaRPr lang="en-US" sz="1200" i="1" dirty="0">
                        <a:effectLst/>
                        <a:latin typeface="Times New Roman" panose="02020603050405020304" pitchFamily="18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68580" marR="6858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200" dirty="0">
                          <a:effectLst/>
                        </a:rPr>
                        <a:t>Output</a:t>
                      </a:r>
                      <a:endParaRPr lang="en-US" sz="1200" i="1" dirty="0">
                        <a:effectLst/>
                        <a:latin typeface="Times New Roman" panose="02020603050405020304" pitchFamily="18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68580" marR="6858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200" dirty="0"/>
                        <a:t>Signal goes from PHY to MAC to indicate finishing of transmission process</a:t>
                      </a:r>
                      <a:endParaRPr lang="en-US" sz="1200" i="1" dirty="0">
                        <a:effectLst/>
                        <a:latin typeface="Times New Roman" panose="02020603050405020304" pitchFamily="18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68580" marR="68580" marT="0" marB="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8647279"/>
                  </a:ext>
                </a:extLst>
              </a:tr>
              <a:tr h="307314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200" dirty="0" err="1">
                          <a:effectLst/>
                        </a:rPr>
                        <a:t>Tx_real</a:t>
                      </a:r>
                      <a:endParaRPr lang="en-US" sz="1200" i="1" dirty="0">
                        <a:effectLst/>
                        <a:latin typeface="Times New Roman" panose="02020603050405020304" pitchFamily="18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68580" marR="68580" marT="0" marB="0">
                    <a:solidFill>
                      <a:srgbClr val="A4232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200" dirty="0">
                          <a:effectLst/>
                        </a:rPr>
                        <a:t>8</a:t>
                      </a:r>
                      <a:endParaRPr lang="en-US" sz="1200" i="1" dirty="0">
                        <a:effectLst/>
                        <a:latin typeface="Times New Roman" panose="02020603050405020304" pitchFamily="18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68580" marR="6858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200" dirty="0">
                          <a:effectLst/>
                        </a:rPr>
                        <a:t>Output</a:t>
                      </a:r>
                      <a:endParaRPr lang="en-US" sz="1200" i="1" dirty="0">
                        <a:effectLst/>
                        <a:latin typeface="Times New Roman" panose="02020603050405020304" pitchFamily="18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68580" marR="6858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200" dirty="0"/>
                        <a:t>Real part of CSS Symbol</a:t>
                      </a:r>
                      <a:endParaRPr lang="en-US" sz="1200" i="1" dirty="0">
                        <a:effectLst/>
                        <a:latin typeface="Times New Roman" panose="02020603050405020304" pitchFamily="18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68580" marR="68580" marT="0" marB="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7834586"/>
                  </a:ext>
                </a:extLst>
              </a:tr>
              <a:tr h="210136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200" dirty="0" err="1">
                          <a:effectLst/>
                        </a:rPr>
                        <a:t>Tx_imag</a:t>
                      </a:r>
                      <a:endParaRPr lang="en-US" sz="1200" i="1" dirty="0">
                        <a:effectLst/>
                        <a:latin typeface="Times New Roman" panose="02020603050405020304" pitchFamily="18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68580" marR="68580" marT="0" marB="0">
                    <a:solidFill>
                      <a:srgbClr val="A4232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200" b="0" dirty="0">
                          <a:solidFill>
                            <a:schemeClr val="tx1"/>
                          </a:solidFill>
                          <a:effectLst/>
                        </a:rPr>
                        <a:t>8</a:t>
                      </a:r>
                      <a:endParaRPr lang="en-US" sz="1200" b="0" i="1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68580" marR="6858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200" b="0" dirty="0">
                          <a:solidFill>
                            <a:schemeClr val="tx1"/>
                          </a:solidFill>
                          <a:effectLst/>
                        </a:rPr>
                        <a:t>Output</a:t>
                      </a:r>
                      <a:endParaRPr lang="en-US" sz="1200" b="0" i="1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68580" marR="6858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Imaginary part of CSS Symbol</a:t>
                      </a:r>
                      <a:endParaRPr lang="en-US" sz="1200" b="0" i="1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68580" marR="68580" marT="0" marB="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672423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F0BC3A6-CD7A-FD22-1CAD-77CC055F81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855DCF9D-24D2-DA9C-B343-D29579E344A6}"/>
              </a:ext>
            </a:extLst>
          </p:cNvPr>
          <p:cNvSpPr txBox="1"/>
          <p:nvPr/>
        </p:nvSpPr>
        <p:spPr>
          <a:xfrm>
            <a:off x="11368735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pic>
        <p:nvPicPr>
          <p:cNvPr id="3" name="Image 0" descr="/home/claude/css_pptx/logo_cropped.png">
            <a:extLst>
              <a:ext uri="{FF2B5EF4-FFF2-40B4-BE49-F238E27FC236}">
                <a16:creationId xmlns:a16="http://schemas.microsoft.com/office/drawing/2014/main" id="{3B5A3FFE-8F7E-036C-EEA9-94BC2D67D5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57255" y="256032"/>
            <a:ext cx="914400" cy="541378"/>
          </a:xfrm>
          <a:prstGeom prst="rect">
            <a:avLst/>
          </a:prstGeom>
        </p:spPr>
      </p:pic>
      <p:sp>
        <p:nvSpPr>
          <p:cNvPr id="4" name="Text 1">
            <a:extLst>
              <a:ext uri="{FF2B5EF4-FFF2-40B4-BE49-F238E27FC236}">
                <a16:creationId xmlns:a16="http://schemas.microsoft.com/office/drawing/2014/main" id="{7F4433D4-80A8-F32A-57DF-CE35BAA4D5FF}"/>
              </a:ext>
            </a:extLst>
          </p:cNvPr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538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</a:t>
            </a:r>
            <a:endParaRPr lang="en-US" sz="1200" dirty="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5EEF9481-861F-DBB8-2816-75C32EDA0ED7}"/>
              </a:ext>
            </a:extLst>
          </p:cNvPr>
          <p:cNvSpPr txBox="1"/>
          <p:nvPr/>
        </p:nvSpPr>
        <p:spPr>
          <a:xfrm>
            <a:off x="548640" y="658368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7A0C0C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Transmitter Architecture </a:t>
            </a:r>
            <a:endParaRPr lang="en-US" sz="3000" dirty="0"/>
          </a:p>
        </p:txBody>
      </p:sp>
      <p:sp>
        <p:nvSpPr>
          <p:cNvPr id="31" name="Shape 28">
            <a:extLst>
              <a:ext uri="{FF2B5EF4-FFF2-40B4-BE49-F238E27FC236}">
                <a16:creationId xmlns:a16="http://schemas.microsoft.com/office/drawing/2014/main" id="{EBBE39A9-10C9-5D59-CF2C-10F3A29EE9F3}"/>
              </a:ext>
            </a:extLst>
          </p:cNvPr>
          <p:cNvSpPr/>
          <p:nvPr/>
        </p:nvSpPr>
        <p:spPr>
          <a:xfrm>
            <a:off x="1770341" y="4782312"/>
            <a:ext cx="3429000" cy="1691640"/>
          </a:xfrm>
          <a:prstGeom prst="roundRect">
            <a:avLst>
              <a:gd name="adj" fmla="val 4324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29">
            <a:extLst>
              <a:ext uri="{FF2B5EF4-FFF2-40B4-BE49-F238E27FC236}">
                <a16:creationId xmlns:a16="http://schemas.microsoft.com/office/drawing/2014/main" id="{D2298F3A-1C54-5273-EB1E-A1983629EE43}"/>
              </a:ext>
            </a:extLst>
          </p:cNvPr>
          <p:cNvSpPr txBox="1"/>
          <p:nvPr/>
        </p:nvSpPr>
        <p:spPr>
          <a:xfrm>
            <a:off x="1998941" y="5070430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E538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</a:t>
            </a:r>
            <a:endParaRPr lang="en-US" sz="1100" dirty="0"/>
          </a:p>
        </p:txBody>
      </p:sp>
      <p:sp>
        <p:nvSpPr>
          <p:cNvPr id="33" name="Text 30">
            <a:extLst>
              <a:ext uri="{FF2B5EF4-FFF2-40B4-BE49-F238E27FC236}">
                <a16:creationId xmlns:a16="http://schemas.microsoft.com/office/drawing/2014/main" id="{55EAD4F1-CA28-F4CB-77EE-612E41759697}"/>
              </a:ext>
            </a:extLst>
          </p:cNvPr>
          <p:cNvSpPr txBox="1"/>
          <p:nvPr/>
        </p:nvSpPr>
        <p:spPr>
          <a:xfrm>
            <a:off x="1998941" y="5172374"/>
            <a:ext cx="2971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PHR + PSDU bits , plus fixed preamble &amp; SFD patterns</a:t>
            </a:r>
            <a:endParaRPr lang="en-US" sz="1200" dirty="0"/>
          </a:p>
        </p:txBody>
      </p:sp>
      <p:sp>
        <p:nvSpPr>
          <p:cNvPr id="37" name="Shape 34">
            <a:extLst>
              <a:ext uri="{FF2B5EF4-FFF2-40B4-BE49-F238E27FC236}">
                <a16:creationId xmlns:a16="http://schemas.microsoft.com/office/drawing/2014/main" id="{FB7C10CE-9C9D-EEE3-D3FD-73BB2017EBF9}"/>
              </a:ext>
            </a:extLst>
          </p:cNvPr>
          <p:cNvSpPr/>
          <p:nvPr/>
        </p:nvSpPr>
        <p:spPr>
          <a:xfrm>
            <a:off x="6674137" y="4782312"/>
            <a:ext cx="3429000" cy="1691640"/>
          </a:xfrm>
          <a:prstGeom prst="roundRect">
            <a:avLst>
              <a:gd name="adj" fmla="val 4324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5">
            <a:extLst>
              <a:ext uri="{FF2B5EF4-FFF2-40B4-BE49-F238E27FC236}">
                <a16:creationId xmlns:a16="http://schemas.microsoft.com/office/drawing/2014/main" id="{18E19D65-B005-89E1-ADBB-BD666BB0FB7D}"/>
              </a:ext>
            </a:extLst>
          </p:cNvPr>
          <p:cNvSpPr txBox="1"/>
          <p:nvPr/>
        </p:nvSpPr>
        <p:spPr>
          <a:xfrm>
            <a:off x="6902737" y="5079492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E538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</a:t>
            </a:r>
            <a:endParaRPr lang="en-US" sz="1100" dirty="0"/>
          </a:p>
        </p:txBody>
      </p:sp>
      <p:sp>
        <p:nvSpPr>
          <p:cNvPr id="39" name="Text 36">
            <a:extLst>
              <a:ext uri="{FF2B5EF4-FFF2-40B4-BE49-F238E27FC236}">
                <a16:creationId xmlns:a16="http://schemas.microsoft.com/office/drawing/2014/main" id="{6323B14F-5F15-4B59-3C75-511FC770E3B5}"/>
              </a:ext>
            </a:extLst>
          </p:cNvPr>
          <p:cNvSpPr txBox="1"/>
          <p:nvPr/>
        </p:nvSpPr>
        <p:spPr>
          <a:xfrm>
            <a:off x="6924944" y="5161665"/>
            <a:ext cx="2971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and Imaginary Signals ready to be transmitted. </a:t>
            </a:r>
            <a:endParaRPr lang="en-US" sz="1200" dirty="0"/>
          </a:p>
        </p:txBody>
      </p:sp>
      <p:sp>
        <p:nvSpPr>
          <p:cNvPr id="43" name="Shape 4">
            <a:extLst>
              <a:ext uri="{FF2B5EF4-FFF2-40B4-BE49-F238E27FC236}">
                <a16:creationId xmlns:a16="http://schemas.microsoft.com/office/drawing/2014/main" id="{74D0CC17-80B4-8F70-2C58-20A1714FC48A}"/>
              </a:ext>
            </a:extLst>
          </p:cNvPr>
          <p:cNvSpPr/>
          <p:nvPr/>
        </p:nvSpPr>
        <p:spPr>
          <a:xfrm>
            <a:off x="548640" y="2148840"/>
            <a:ext cx="1371600" cy="1097280"/>
          </a:xfrm>
          <a:prstGeom prst="roundRect">
            <a:avLst>
              <a:gd name="adj" fmla="val 4167"/>
            </a:avLst>
          </a:prstGeom>
          <a:solidFill>
            <a:srgbClr val="E538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Text 5">
            <a:extLst>
              <a:ext uri="{FF2B5EF4-FFF2-40B4-BE49-F238E27FC236}">
                <a16:creationId xmlns:a16="http://schemas.microsoft.com/office/drawing/2014/main" id="{5BC3C393-C4D2-9E9B-9C3F-5BC902845088}"/>
              </a:ext>
            </a:extLst>
          </p:cNvPr>
          <p:cNvSpPr txBox="1"/>
          <p:nvPr/>
        </p:nvSpPr>
        <p:spPr>
          <a:xfrm>
            <a:off x="548640" y="2148840"/>
            <a:ext cx="1371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Payload</a:t>
            </a:r>
            <a:endParaRPr lang="en-US" sz="1050" dirty="0"/>
          </a:p>
          <a:p>
            <a:pPr marL="0" indent="0" algn="ctr">
              <a:lnSpc>
                <a:spcPts val="12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RAM</a:t>
            </a:r>
            <a:endParaRPr lang="en-US" sz="1050" dirty="0"/>
          </a:p>
          <a:p>
            <a:pPr marL="0" indent="0" algn="ctr">
              <a:lnSpc>
                <a:spcPts val="12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127×8 bits</a:t>
            </a:r>
            <a:endParaRPr lang="en-US" sz="1050" dirty="0"/>
          </a:p>
        </p:txBody>
      </p:sp>
      <p:sp>
        <p:nvSpPr>
          <p:cNvPr id="47" name="Shape 6">
            <a:extLst>
              <a:ext uri="{FF2B5EF4-FFF2-40B4-BE49-F238E27FC236}">
                <a16:creationId xmlns:a16="http://schemas.microsoft.com/office/drawing/2014/main" id="{25A2C70C-8350-95D8-B76B-408A21A55255}"/>
              </a:ext>
            </a:extLst>
          </p:cNvPr>
          <p:cNvSpPr/>
          <p:nvPr/>
        </p:nvSpPr>
        <p:spPr>
          <a:xfrm>
            <a:off x="1920240" y="2633472"/>
            <a:ext cx="320040" cy="128016"/>
          </a:xfrm>
          <a:prstGeom prst="rightArrow">
            <a:avLst/>
          </a:prstGeom>
          <a:solidFill>
            <a:srgbClr val="6B6B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9" name="Shape 7">
            <a:extLst>
              <a:ext uri="{FF2B5EF4-FFF2-40B4-BE49-F238E27FC236}">
                <a16:creationId xmlns:a16="http://schemas.microsoft.com/office/drawing/2014/main" id="{7875F58B-EAC4-E353-0B49-8E477BE6467B}"/>
              </a:ext>
            </a:extLst>
          </p:cNvPr>
          <p:cNvSpPr/>
          <p:nvPr/>
        </p:nvSpPr>
        <p:spPr>
          <a:xfrm>
            <a:off x="2240280" y="2148840"/>
            <a:ext cx="822960" cy="1097280"/>
          </a:xfrm>
          <a:prstGeom prst="roundRect">
            <a:avLst>
              <a:gd name="adj" fmla="val 5556"/>
            </a:avLst>
          </a:prstGeom>
          <a:solidFill>
            <a:srgbClr val="C9D6D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1" name="Text 8">
            <a:extLst>
              <a:ext uri="{FF2B5EF4-FFF2-40B4-BE49-F238E27FC236}">
                <a16:creationId xmlns:a16="http://schemas.microsoft.com/office/drawing/2014/main" id="{35C111BD-9703-6113-C800-104DC5CA2759}"/>
              </a:ext>
            </a:extLst>
          </p:cNvPr>
          <p:cNvSpPr txBox="1"/>
          <p:nvPr/>
        </p:nvSpPr>
        <p:spPr>
          <a:xfrm>
            <a:off x="2240280" y="2148840"/>
            <a:ext cx="822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050" b="1" dirty="0">
                <a:solidFill>
                  <a:srgbClr val="1A1A1A"/>
                </a:solidFill>
                <a:latin typeface="Arial" pitchFamily="34" charset="0"/>
                <a:cs typeface="Arial" pitchFamily="34" charset="-120"/>
              </a:rPr>
              <a:t>Zero Padding</a:t>
            </a:r>
            <a:endParaRPr lang="en-US" sz="1050" dirty="0"/>
          </a:p>
        </p:txBody>
      </p:sp>
      <p:sp>
        <p:nvSpPr>
          <p:cNvPr id="53" name="Shape 9">
            <a:extLst>
              <a:ext uri="{FF2B5EF4-FFF2-40B4-BE49-F238E27FC236}">
                <a16:creationId xmlns:a16="http://schemas.microsoft.com/office/drawing/2014/main" id="{BE484E2E-B437-0386-B6CC-BD18C383235C}"/>
              </a:ext>
            </a:extLst>
          </p:cNvPr>
          <p:cNvSpPr/>
          <p:nvPr/>
        </p:nvSpPr>
        <p:spPr>
          <a:xfrm>
            <a:off x="3063240" y="2633472"/>
            <a:ext cx="320040" cy="128016"/>
          </a:xfrm>
          <a:prstGeom prst="rightArrow">
            <a:avLst/>
          </a:prstGeom>
          <a:solidFill>
            <a:srgbClr val="6B6B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5" name="Shape 10">
            <a:extLst>
              <a:ext uri="{FF2B5EF4-FFF2-40B4-BE49-F238E27FC236}">
                <a16:creationId xmlns:a16="http://schemas.microsoft.com/office/drawing/2014/main" id="{1C786624-1B66-426C-27D9-9C7D793C693B}"/>
              </a:ext>
            </a:extLst>
          </p:cNvPr>
          <p:cNvSpPr/>
          <p:nvPr/>
        </p:nvSpPr>
        <p:spPr>
          <a:xfrm>
            <a:off x="3383280" y="2148840"/>
            <a:ext cx="822960" cy="1097280"/>
          </a:xfrm>
          <a:prstGeom prst="roundRect">
            <a:avLst>
              <a:gd name="adj" fmla="val 5556"/>
            </a:avLst>
          </a:prstGeom>
          <a:solidFill>
            <a:srgbClr val="C9D6D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7" name="Text 11">
            <a:extLst>
              <a:ext uri="{FF2B5EF4-FFF2-40B4-BE49-F238E27FC236}">
                <a16:creationId xmlns:a16="http://schemas.microsoft.com/office/drawing/2014/main" id="{27790168-725C-866E-2655-0BF1F35A5E4F}"/>
              </a:ext>
            </a:extLst>
          </p:cNvPr>
          <p:cNvSpPr txBox="1"/>
          <p:nvPr/>
        </p:nvSpPr>
        <p:spPr>
          <a:xfrm>
            <a:off x="3383280" y="2148840"/>
            <a:ext cx="822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9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DeMUX</a:t>
            </a:r>
            <a:endParaRPr lang="en-US" sz="950" dirty="0"/>
          </a:p>
          <a:p>
            <a:pPr marL="0" indent="0" algn="ctr">
              <a:lnSpc>
                <a:spcPts val="1200"/>
              </a:lnSpc>
              <a:buNone/>
            </a:pPr>
            <a:r>
              <a:rPr lang="en-US" sz="9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(I/Q)</a:t>
            </a:r>
            <a:endParaRPr lang="en-US" sz="950" dirty="0"/>
          </a:p>
        </p:txBody>
      </p:sp>
      <p:sp>
        <p:nvSpPr>
          <p:cNvPr id="59" name="Shape 12">
            <a:extLst>
              <a:ext uri="{FF2B5EF4-FFF2-40B4-BE49-F238E27FC236}">
                <a16:creationId xmlns:a16="http://schemas.microsoft.com/office/drawing/2014/main" id="{EBD632A2-ECC9-7FE3-664C-10A0DB1F55F7}"/>
              </a:ext>
            </a:extLst>
          </p:cNvPr>
          <p:cNvSpPr/>
          <p:nvPr/>
        </p:nvSpPr>
        <p:spPr>
          <a:xfrm>
            <a:off x="4206240" y="2194560"/>
            <a:ext cx="320040" cy="109728"/>
          </a:xfrm>
          <a:prstGeom prst="rightArrow">
            <a:avLst/>
          </a:prstGeom>
          <a:solidFill>
            <a:srgbClr val="6B6B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1" name="Shape 13">
            <a:extLst>
              <a:ext uri="{FF2B5EF4-FFF2-40B4-BE49-F238E27FC236}">
                <a16:creationId xmlns:a16="http://schemas.microsoft.com/office/drawing/2014/main" id="{C334E13A-B985-B10A-130D-23C892515F39}"/>
              </a:ext>
            </a:extLst>
          </p:cNvPr>
          <p:cNvSpPr/>
          <p:nvPr/>
        </p:nvSpPr>
        <p:spPr>
          <a:xfrm>
            <a:off x="4526280" y="2103120"/>
            <a:ext cx="1417320" cy="502920"/>
          </a:xfrm>
          <a:prstGeom prst="roundRect">
            <a:avLst>
              <a:gd name="adj" fmla="val 9091"/>
            </a:avLst>
          </a:prstGeom>
          <a:solidFill>
            <a:srgbClr val="C1121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3" name="Text 14">
            <a:extLst>
              <a:ext uri="{FF2B5EF4-FFF2-40B4-BE49-F238E27FC236}">
                <a16:creationId xmlns:a16="http://schemas.microsoft.com/office/drawing/2014/main" id="{2243CA9F-B358-CF34-E623-6155128CC03F}"/>
              </a:ext>
            </a:extLst>
          </p:cNvPr>
          <p:cNvSpPr txBox="1"/>
          <p:nvPr/>
        </p:nvSpPr>
        <p:spPr>
          <a:xfrm>
            <a:off x="4526280" y="210312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Symbol Mapper</a:t>
            </a:r>
            <a:endParaRPr lang="en-US" sz="950" dirty="0"/>
          </a:p>
          <a:p>
            <a:pPr marL="0" indent="0" algn="ctr">
              <a:lnSpc>
                <a:spcPts val="12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ROM (I)</a:t>
            </a:r>
            <a:endParaRPr lang="en-US" sz="950" dirty="0"/>
          </a:p>
        </p:txBody>
      </p:sp>
      <p:sp>
        <p:nvSpPr>
          <p:cNvPr id="65" name="Shape 15">
            <a:extLst>
              <a:ext uri="{FF2B5EF4-FFF2-40B4-BE49-F238E27FC236}">
                <a16:creationId xmlns:a16="http://schemas.microsoft.com/office/drawing/2014/main" id="{C4CB9F5F-532F-0B5A-6F78-483BF75526C5}"/>
              </a:ext>
            </a:extLst>
          </p:cNvPr>
          <p:cNvSpPr/>
          <p:nvPr/>
        </p:nvSpPr>
        <p:spPr>
          <a:xfrm>
            <a:off x="5943600" y="2304288"/>
            <a:ext cx="274320" cy="91440"/>
          </a:xfrm>
          <a:prstGeom prst="rightArrow">
            <a:avLst/>
          </a:prstGeom>
          <a:solidFill>
            <a:srgbClr val="6B6B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7" name="Shape 16">
            <a:extLst>
              <a:ext uri="{FF2B5EF4-FFF2-40B4-BE49-F238E27FC236}">
                <a16:creationId xmlns:a16="http://schemas.microsoft.com/office/drawing/2014/main" id="{956ACDBD-4C9D-6E2E-D5AF-AE55CEA28038}"/>
              </a:ext>
            </a:extLst>
          </p:cNvPr>
          <p:cNvSpPr/>
          <p:nvPr/>
        </p:nvSpPr>
        <p:spPr>
          <a:xfrm>
            <a:off x="6217920" y="2103120"/>
            <a:ext cx="1234440" cy="502920"/>
          </a:xfrm>
          <a:prstGeom prst="roundRect">
            <a:avLst>
              <a:gd name="adj" fmla="val 9091"/>
            </a:avLst>
          </a:prstGeom>
          <a:solidFill>
            <a:srgbClr val="C1121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9" name="Text 17">
            <a:extLst>
              <a:ext uri="{FF2B5EF4-FFF2-40B4-BE49-F238E27FC236}">
                <a16:creationId xmlns:a16="http://schemas.microsoft.com/office/drawing/2014/main" id="{D1D19B84-54FD-06BE-D407-23C83E880F92}"/>
              </a:ext>
            </a:extLst>
          </p:cNvPr>
          <p:cNvSpPr txBox="1"/>
          <p:nvPr/>
        </p:nvSpPr>
        <p:spPr>
          <a:xfrm>
            <a:off x="6217920" y="210312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950" b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Interleaver</a:t>
            </a:r>
            <a:endParaRPr lang="en-US" sz="950" dirty="0"/>
          </a:p>
        </p:txBody>
      </p:sp>
      <p:sp>
        <p:nvSpPr>
          <p:cNvPr id="71" name="Shape 18">
            <a:extLst>
              <a:ext uri="{FF2B5EF4-FFF2-40B4-BE49-F238E27FC236}">
                <a16:creationId xmlns:a16="http://schemas.microsoft.com/office/drawing/2014/main" id="{9AFE69FE-1EA9-1720-9E74-53C3D21A518F}"/>
              </a:ext>
            </a:extLst>
          </p:cNvPr>
          <p:cNvSpPr/>
          <p:nvPr/>
        </p:nvSpPr>
        <p:spPr>
          <a:xfrm>
            <a:off x="4206240" y="2926080"/>
            <a:ext cx="320040" cy="109728"/>
          </a:xfrm>
          <a:prstGeom prst="rightArrow">
            <a:avLst/>
          </a:prstGeom>
          <a:solidFill>
            <a:srgbClr val="6B6B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3" name="Shape 19">
            <a:extLst>
              <a:ext uri="{FF2B5EF4-FFF2-40B4-BE49-F238E27FC236}">
                <a16:creationId xmlns:a16="http://schemas.microsoft.com/office/drawing/2014/main" id="{D343FF34-285B-6F86-BF8F-4D18042E0411}"/>
              </a:ext>
            </a:extLst>
          </p:cNvPr>
          <p:cNvSpPr/>
          <p:nvPr/>
        </p:nvSpPr>
        <p:spPr>
          <a:xfrm>
            <a:off x="4526280" y="2834640"/>
            <a:ext cx="1417320" cy="502920"/>
          </a:xfrm>
          <a:prstGeom prst="roundRect">
            <a:avLst>
              <a:gd name="adj" fmla="val 9091"/>
            </a:avLst>
          </a:prstGeom>
          <a:solidFill>
            <a:srgbClr val="C1121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5" name="Text 20">
            <a:extLst>
              <a:ext uri="{FF2B5EF4-FFF2-40B4-BE49-F238E27FC236}">
                <a16:creationId xmlns:a16="http://schemas.microsoft.com/office/drawing/2014/main" id="{96BAAC5F-B35D-CE99-F1CF-041B2C580A2F}"/>
              </a:ext>
            </a:extLst>
          </p:cNvPr>
          <p:cNvSpPr txBox="1"/>
          <p:nvPr/>
        </p:nvSpPr>
        <p:spPr>
          <a:xfrm>
            <a:off x="4526280" y="283464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Symbol Mapper</a:t>
            </a:r>
            <a:endParaRPr lang="en-US" sz="950" dirty="0"/>
          </a:p>
          <a:p>
            <a:pPr marL="0" indent="0" algn="ctr">
              <a:lnSpc>
                <a:spcPts val="12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ROM (Q)</a:t>
            </a:r>
            <a:endParaRPr lang="en-US" sz="950" dirty="0"/>
          </a:p>
        </p:txBody>
      </p:sp>
      <p:sp>
        <p:nvSpPr>
          <p:cNvPr id="77" name="Shape 21">
            <a:extLst>
              <a:ext uri="{FF2B5EF4-FFF2-40B4-BE49-F238E27FC236}">
                <a16:creationId xmlns:a16="http://schemas.microsoft.com/office/drawing/2014/main" id="{723219FF-CC0B-3083-43D3-F6B0366C7D44}"/>
              </a:ext>
            </a:extLst>
          </p:cNvPr>
          <p:cNvSpPr/>
          <p:nvPr/>
        </p:nvSpPr>
        <p:spPr>
          <a:xfrm>
            <a:off x="5943600" y="3035808"/>
            <a:ext cx="274320" cy="91440"/>
          </a:xfrm>
          <a:prstGeom prst="rightArrow">
            <a:avLst/>
          </a:prstGeom>
          <a:solidFill>
            <a:srgbClr val="6B6B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9" name="Shape 22">
            <a:extLst>
              <a:ext uri="{FF2B5EF4-FFF2-40B4-BE49-F238E27FC236}">
                <a16:creationId xmlns:a16="http://schemas.microsoft.com/office/drawing/2014/main" id="{C3DBD781-747F-F538-35F4-358E2A348C19}"/>
              </a:ext>
            </a:extLst>
          </p:cNvPr>
          <p:cNvSpPr/>
          <p:nvPr/>
        </p:nvSpPr>
        <p:spPr>
          <a:xfrm>
            <a:off x="6217920" y="2834640"/>
            <a:ext cx="1234440" cy="502920"/>
          </a:xfrm>
          <a:prstGeom prst="roundRect">
            <a:avLst>
              <a:gd name="adj" fmla="val 9091"/>
            </a:avLst>
          </a:prstGeom>
          <a:solidFill>
            <a:srgbClr val="C1121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1" name="Text 23">
            <a:extLst>
              <a:ext uri="{FF2B5EF4-FFF2-40B4-BE49-F238E27FC236}">
                <a16:creationId xmlns:a16="http://schemas.microsoft.com/office/drawing/2014/main" id="{70967C30-A65D-A79F-6ECA-1A776717C0A0}"/>
              </a:ext>
            </a:extLst>
          </p:cNvPr>
          <p:cNvSpPr txBox="1"/>
          <p:nvPr/>
        </p:nvSpPr>
        <p:spPr>
          <a:xfrm>
            <a:off x="6217920" y="283464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950" b="1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Interleaver</a:t>
            </a:r>
            <a:endParaRPr lang="en-US" sz="950" dirty="0"/>
          </a:p>
        </p:txBody>
      </p:sp>
      <p:sp>
        <p:nvSpPr>
          <p:cNvPr id="83" name="Shape 24">
            <a:extLst>
              <a:ext uri="{FF2B5EF4-FFF2-40B4-BE49-F238E27FC236}">
                <a16:creationId xmlns:a16="http://schemas.microsoft.com/office/drawing/2014/main" id="{3CE32D9E-0CC3-8E1F-C185-2A1004B88727}"/>
              </a:ext>
            </a:extLst>
          </p:cNvPr>
          <p:cNvSpPr/>
          <p:nvPr/>
        </p:nvSpPr>
        <p:spPr>
          <a:xfrm>
            <a:off x="4206240" y="3566160"/>
            <a:ext cx="1737360" cy="502920"/>
          </a:xfrm>
          <a:prstGeom prst="roundRect">
            <a:avLst>
              <a:gd name="adj" fmla="val 9091"/>
            </a:avLst>
          </a:prstGeom>
          <a:solidFill>
            <a:srgbClr val="E538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5" name="Text 25">
            <a:extLst>
              <a:ext uri="{FF2B5EF4-FFF2-40B4-BE49-F238E27FC236}">
                <a16:creationId xmlns:a16="http://schemas.microsoft.com/office/drawing/2014/main" id="{2ABAE564-2C67-A066-AFB0-7913001FBE84}"/>
              </a:ext>
            </a:extLst>
          </p:cNvPr>
          <p:cNvSpPr txBox="1"/>
          <p:nvPr/>
        </p:nvSpPr>
        <p:spPr>
          <a:xfrm>
            <a:off x="4206240" y="356616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Preamble / SFD ROM</a:t>
            </a:r>
            <a:endParaRPr lang="en-US" sz="950" dirty="0"/>
          </a:p>
        </p:txBody>
      </p:sp>
      <p:sp>
        <p:nvSpPr>
          <p:cNvPr id="87" name="Shape 26">
            <a:extLst>
              <a:ext uri="{FF2B5EF4-FFF2-40B4-BE49-F238E27FC236}">
                <a16:creationId xmlns:a16="http://schemas.microsoft.com/office/drawing/2014/main" id="{31040CDE-2B2B-945F-87CC-9EF9E0FEBC0D}"/>
              </a:ext>
            </a:extLst>
          </p:cNvPr>
          <p:cNvSpPr/>
          <p:nvPr/>
        </p:nvSpPr>
        <p:spPr>
          <a:xfrm>
            <a:off x="7452360" y="2532888"/>
            <a:ext cx="274320" cy="457200"/>
          </a:xfrm>
          <a:prstGeom prst="rightArrow">
            <a:avLst/>
          </a:prstGeom>
          <a:solidFill>
            <a:srgbClr val="6B6B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9" name="Shape 27">
            <a:extLst>
              <a:ext uri="{FF2B5EF4-FFF2-40B4-BE49-F238E27FC236}">
                <a16:creationId xmlns:a16="http://schemas.microsoft.com/office/drawing/2014/main" id="{D7876781-51FB-881D-EA03-2553C52E01DA}"/>
              </a:ext>
            </a:extLst>
          </p:cNvPr>
          <p:cNvSpPr/>
          <p:nvPr/>
        </p:nvSpPr>
        <p:spPr>
          <a:xfrm>
            <a:off x="7726680" y="2240280"/>
            <a:ext cx="1051560" cy="1005840"/>
          </a:xfrm>
          <a:prstGeom prst="roundRect">
            <a:avLst>
              <a:gd name="adj" fmla="val 4545"/>
            </a:avLst>
          </a:prstGeom>
          <a:solidFill>
            <a:srgbClr val="7A0C0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1" name="Text 28">
            <a:extLst>
              <a:ext uri="{FF2B5EF4-FFF2-40B4-BE49-F238E27FC236}">
                <a16:creationId xmlns:a16="http://schemas.microsoft.com/office/drawing/2014/main" id="{D0F7AE78-C9DE-E0ED-34B0-A94DD308C5C7}"/>
              </a:ext>
            </a:extLst>
          </p:cNvPr>
          <p:cNvSpPr txBox="1"/>
          <p:nvPr/>
        </p:nvSpPr>
        <p:spPr>
          <a:xfrm>
            <a:off x="7726680" y="2240280"/>
            <a:ext cx="1051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Controller</a:t>
            </a:r>
            <a:endParaRPr lang="en-US" sz="1050" dirty="0"/>
          </a:p>
        </p:txBody>
      </p:sp>
      <p:sp>
        <p:nvSpPr>
          <p:cNvPr id="93" name="Shape 29">
            <a:extLst>
              <a:ext uri="{FF2B5EF4-FFF2-40B4-BE49-F238E27FC236}">
                <a16:creationId xmlns:a16="http://schemas.microsoft.com/office/drawing/2014/main" id="{E9B34D26-2701-8AAF-34E6-E3762B616E6D}"/>
              </a:ext>
            </a:extLst>
          </p:cNvPr>
          <p:cNvSpPr/>
          <p:nvPr/>
        </p:nvSpPr>
        <p:spPr>
          <a:xfrm>
            <a:off x="5074920" y="3474720"/>
            <a:ext cx="0" cy="91440"/>
          </a:xfrm>
          <a:prstGeom prst="line">
            <a:avLst/>
          </a:prstGeom>
          <a:noFill/>
          <a:ln w="12700">
            <a:solidFill>
              <a:srgbClr val="6B6B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5" name="Shape 30">
            <a:extLst>
              <a:ext uri="{FF2B5EF4-FFF2-40B4-BE49-F238E27FC236}">
                <a16:creationId xmlns:a16="http://schemas.microsoft.com/office/drawing/2014/main" id="{9070959A-7C14-8155-8D93-4053BD552C02}"/>
              </a:ext>
            </a:extLst>
          </p:cNvPr>
          <p:cNvSpPr/>
          <p:nvPr/>
        </p:nvSpPr>
        <p:spPr>
          <a:xfrm flipV="1">
            <a:off x="5074920" y="3246120"/>
            <a:ext cx="2834633" cy="228600"/>
          </a:xfrm>
          <a:prstGeom prst="bentConnector2">
            <a:avLst/>
          </a:prstGeom>
          <a:noFill/>
          <a:ln w="15240">
            <a:solidFill>
              <a:srgbClr val="6B6B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7" name="Shape 31">
            <a:extLst>
              <a:ext uri="{FF2B5EF4-FFF2-40B4-BE49-F238E27FC236}">
                <a16:creationId xmlns:a16="http://schemas.microsoft.com/office/drawing/2014/main" id="{34ECDB7C-B171-522C-4D63-940A61341428}"/>
              </a:ext>
            </a:extLst>
          </p:cNvPr>
          <p:cNvSpPr/>
          <p:nvPr/>
        </p:nvSpPr>
        <p:spPr>
          <a:xfrm>
            <a:off x="8778240" y="2679192"/>
            <a:ext cx="274320" cy="128016"/>
          </a:xfrm>
          <a:prstGeom prst="rightArrow">
            <a:avLst/>
          </a:prstGeom>
          <a:solidFill>
            <a:srgbClr val="6B6B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9" name="Shape 32">
            <a:extLst>
              <a:ext uri="{FF2B5EF4-FFF2-40B4-BE49-F238E27FC236}">
                <a16:creationId xmlns:a16="http://schemas.microsoft.com/office/drawing/2014/main" id="{4F6202D8-C6B2-305C-7684-2702D8EFA66B}"/>
              </a:ext>
            </a:extLst>
          </p:cNvPr>
          <p:cNvSpPr/>
          <p:nvPr/>
        </p:nvSpPr>
        <p:spPr>
          <a:xfrm>
            <a:off x="9052560" y="2468880"/>
            <a:ext cx="685800" cy="502920"/>
          </a:xfrm>
          <a:prstGeom prst="roundRect">
            <a:avLst>
              <a:gd name="adj" fmla="val 9091"/>
            </a:avLst>
          </a:prstGeom>
          <a:solidFill>
            <a:srgbClr val="C9D6D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1" name="Text 33">
            <a:extLst>
              <a:ext uri="{FF2B5EF4-FFF2-40B4-BE49-F238E27FC236}">
                <a16:creationId xmlns:a16="http://schemas.microsoft.com/office/drawing/2014/main" id="{2AA02515-1A0E-1648-EE1D-EFD196120A20}"/>
              </a:ext>
            </a:extLst>
          </p:cNvPr>
          <p:cNvSpPr txBox="1"/>
          <p:nvPr/>
        </p:nvSpPr>
        <p:spPr>
          <a:xfrm>
            <a:off x="9052560" y="2468880"/>
            <a:ext cx="685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9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MUX</a:t>
            </a:r>
            <a:endParaRPr lang="en-US" sz="950" dirty="0"/>
          </a:p>
          <a:p>
            <a:pPr marL="0" indent="0" algn="ctr">
              <a:lnSpc>
                <a:spcPts val="1200"/>
              </a:lnSpc>
              <a:buNone/>
            </a:pPr>
            <a:r>
              <a:rPr lang="en-US" sz="9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I/Q</a:t>
            </a:r>
            <a:endParaRPr lang="en-US" sz="950" dirty="0"/>
          </a:p>
        </p:txBody>
      </p:sp>
      <p:sp>
        <p:nvSpPr>
          <p:cNvPr id="103" name="Shape 34">
            <a:extLst>
              <a:ext uri="{FF2B5EF4-FFF2-40B4-BE49-F238E27FC236}">
                <a16:creationId xmlns:a16="http://schemas.microsoft.com/office/drawing/2014/main" id="{F059CCDE-AAA0-8674-1DC7-574F3671DC96}"/>
              </a:ext>
            </a:extLst>
          </p:cNvPr>
          <p:cNvSpPr/>
          <p:nvPr/>
        </p:nvSpPr>
        <p:spPr>
          <a:xfrm>
            <a:off x="9738360" y="2679192"/>
            <a:ext cx="274320" cy="128016"/>
          </a:xfrm>
          <a:prstGeom prst="rightArrow">
            <a:avLst/>
          </a:prstGeom>
          <a:solidFill>
            <a:srgbClr val="6B6B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5" name="Shape 35">
            <a:extLst>
              <a:ext uri="{FF2B5EF4-FFF2-40B4-BE49-F238E27FC236}">
                <a16:creationId xmlns:a16="http://schemas.microsoft.com/office/drawing/2014/main" id="{A1BF2CD3-046C-8014-F368-76D1360C294C}"/>
              </a:ext>
            </a:extLst>
          </p:cNvPr>
          <p:cNvSpPr/>
          <p:nvPr/>
        </p:nvSpPr>
        <p:spPr>
          <a:xfrm>
            <a:off x="10012680" y="2240280"/>
            <a:ext cx="1143000" cy="1005840"/>
          </a:xfrm>
          <a:prstGeom prst="roundRect">
            <a:avLst>
              <a:gd name="adj" fmla="val 4545"/>
            </a:avLst>
          </a:prstGeom>
          <a:solidFill>
            <a:srgbClr val="D9042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7" name="Text 36">
            <a:extLst>
              <a:ext uri="{FF2B5EF4-FFF2-40B4-BE49-F238E27FC236}">
                <a16:creationId xmlns:a16="http://schemas.microsoft.com/office/drawing/2014/main" id="{E7365CD6-9A9C-E191-507E-5171198CA696}"/>
              </a:ext>
            </a:extLst>
          </p:cNvPr>
          <p:cNvSpPr txBox="1"/>
          <p:nvPr/>
        </p:nvSpPr>
        <p:spPr>
          <a:xfrm>
            <a:off x="10012680" y="2240280"/>
            <a:ext cx="1143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QPSK ×</a:t>
            </a:r>
            <a:endParaRPr lang="en-US" sz="950" dirty="0"/>
          </a:p>
          <a:p>
            <a:pPr marL="0" indent="0" algn="ctr">
              <a:lnSpc>
                <a:spcPts val="12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DQPSK</a:t>
            </a:r>
            <a:endParaRPr lang="en-US" sz="950" dirty="0"/>
          </a:p>
          <a:p>
            <a:pPr marL="0" indent="0" algn="ctr">
              <a:lnSpc>
                <a:spcPts val="12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(4-FF delay)</a:t>
            </a:r>
            <a:endParaRPr lang="en-US" sz="950" dirty="0"/>
          </a:p>
        </p:txBody>
      </p:sp>
      <p:sp>
        <p:nvSpPr>
          <p:cNvPr id="109" name="Shape 37">
            <a:extLst>
              <a:ext uri="{FF2B5EF4-FFF2-40B4-BE49-F238E27FC236}">
                <a16:creationId xmlns:a16="http://schemas.microsoft.com/office/drawing/2014/main" id="{1197AC35-7AA9-72E9-2427-E2F63B4E5DF0}"/>
              </a:ext>
            </a:extLst>
          </p:cNvPr>
          <p:cNvSpPr/>
          <p:nvPr/>
        </p:nvSpPr>
        <p:spPr>
          <a:xfrm>
            <a:off x="9052560" y="3566160"/>
            <a:ext cx="1143000" cy="502920"/>
          </a:xfrm>
          <a:prstGeom prst="roundRect">
            <a:avLst>
              <a:gd name="adj" fmla="val 9091"/>
            </a:avLst>
          </a:prstGeom>
          <a:solidFill>
            <a:srgbClr val="E538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1" name="Text 38">
            <a:extLst>
              <a:ext uri="{FF2B5EF4-FFF2-40B4-BE49-F238E27FC236}">
                <a16:creationId xmlns:a16="http://schemas.microsoft.com/office/drawing/2014/main" id="{7C772212-D14A-E958-98D7-F206A042B5D1}"/>
              </a:ext>
            </a:extLst>
          </p:cNvPr>
          <p:cNvSpPr txBox="1"/>
          <p:nvPr/>
        </p:nvSpPr>
        <p:spPr>
          <a:xfrm>
            <a:off x="9052560" y="3566160"/>
            <a:ext cx="1143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CSS Symbols</a:t>
            </a:r>
            <a:endParaRPr lang="en-US" sz="950" dirty="0"/>
          </a:p>
          <a:p>
            <a:pPr marL="0" indent="0" algn="ctr">
              <a:lnSpc>
                <a:spcPts val="12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ROM (CSK)</a:t>
            </a:r>
            <a:endParaRPr lang="en-US" sz="950" dirty="0"/>
          </a:p>
        </p:txBody>
      </p:sp>
      <p:sp>
        <p:nvSpPr>
          <p:cNvPr id="113" name="Shape 39">
            <a:extLst>
              <a:ext uri="{FF2B5EF4-FFF2-40B4-BE49-F238E27FC236}">
                <a16:creationId xmlns:a16="http://schemas.microsoft.com/office/drawing/2014/main" id="{B3ECBEBA-9F8C-5DBF-5434-DCAA3BBCBF66}"/>
              </a:ext>
            </a:extLst>
          </p:cNvPr>
          <p:cNvSpPr/>
          <p:nvPr/>
        </p:nvSpPr>
        <p:spPr>
          <a:xfrm flipV="1">
            <a:off x="9738360" y="3246120"/>
            <a:ext cx="777231" cy="155448"/>
          </a:xfrm>
          <a:prstGeom prst="bentConnector2">
            <a:avLst/>
          </a:prstGeom>
          <a:noFill/>
          <a:ln w="15240">
            <a:solidFill>
              <a:srgbClr val="6B6B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5" name="Shape 40">
            <a:extLst>
              <a:ext uri="{FF2B5EF4-FFF2-40B4-BE49-F238E27FC236}">
                <a16:creationId xmlns:a16="http://schemas.microsoft.com/office/drawing/2014/main" id="{188AEDD0-AA5F-F5F7-25BA-DB10FED76DD5}"/>
              </a:ext>
            </a:extLst>
          </p:cNvPr>
          <p:cNvSpPr/>
          <p:nvPr/>
        </p:nvSpPr>
        <p:spPr>
          <a:xfrm>
            <a:off x="11155680" y="2679192"/>
            <a:ext cx="256032" cy="128016"/>
          </a:xfrm>
          <a:prstGeom prst="rightArrow">
            <a:avLst/>
          </a:prstGeom>
          <a:solidFill>
            <a:srgbClr val="6B6B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7" name="Text 41">
            <a:extLst>
              <a:ext uri="{FF2B5EF4-FFF2-40B4-BE49-F238E27FC236}">
                <a16:creationId xmlns:a16="http://schemas.microsoft.com/office/drawing/2014/main" id="{E43B7B39-0A7E-9C26-A18E-00EAEF5F4FE7}"/>
              </a:ext>
            </a:extLst>
          </p:cNvPr>
          <p:cNvSpPr txBox="1"/>
          <p:nvPr/>
        </p:nvSpPr>
        <p:spPr>
          <a:xfrm>
            <a:off x="11384280" y="2148840"/>
            <a:ext cx="777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000"/>
              </a:lnSpc>
              <a:buNone/>
            </a:pPr>
            <a:r>
              <a:rPr lang="en-US" sz="850" b="1" dirty="0">
                <a:solidFill>
                  <a:srgbClr val="7A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CSS</a:t>
            </a:r>
            <a:endParaRPr lang="en-US" sz="850" dirty="0"/>
          </a:p>
          <a:p>
            <a:pPr marL="0" indent="0" algn="ctr">
              <a:lnSpc>
                <a:spcPts val="1000"/>
              </a:lnSpc>
              <a:buNone/>
            </a:pPr>
            <a:r>
              <a:rPr lang="en-US" sz="850" b="1" dirty="0">
                <a:solidFill>
                  <a:srgbClr val="7A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Modulated</a:t>
            </a:r>
            <a:endParaRPr lang="en-US" sz="850" dirty="0"/>
          </a:p>
          <a:p>
            <a:pPr marL="0" indent="0" algn="ctr">
              <a:lnSpc>
                <a:spcPts val="1000"/>
              </a:lnSpc>
              <a:buNone/>
            </a:pPr>
            <a:r>
              <a:rPr lang="en-US" sz="850" b="1" dirty="0">
                <a:solidFill>
                  <a:srgbClr val="7A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Symbol</a:t>
            </a:r>
            <a:endParaRPr lang="en-US" sz="850" dirty="0"/>
          </a:p>
          <a:p>
            <a:pPr marL="0" indent="0" algn="ctr">
              <a:lnSpc>
                <a:spcPts val="1000"/>
              </a:lnSpc>
              <a:buNone/>
            </a:pPr>
            <a:r>
              <a:rPr lang="en-US" sz="850" b="1" dirty="0">
                <a:solidFill>
                  <a:srgbClr val="7A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(Tx_real,</a:t>
            </a:r>
            <a:endParaRPr lang="en-US" sz="850" dirty="0"/>
          </a:p>
          <a:p>
            <a:pPr marL="0" indent="0" algn="ctr">
              <a:lnSpc>
                <a:spcPts val="1000"/>
              </a:lnSpc>
              <a:buNone/>
            </a:pPr>
            <a:r>
              <a:rPr lang="en-US" sz="850" b="1" dirty="0">
                <a:solidFill>
                  <a:srgbClr val="7A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Tx_imag)</a:t>
            </a:r>
            <a:endParaRPr lang="en-US" sz="850" dirty="0"/>
          </a:p>
        </p:txBody>
      </p:sp>
      <p:sp>
        <p:nvSpPr>
          <p:cNvPr id="119" name="Shape 29">
            <a:extLst>
              <a:ext uri="{FF2B5EF4-FFF2-40B4-BE49-F238E27FC236}">
                <a16:creationId xmlns:a16="http://schemas.microsoft.com/office/drawing/2014/main" id="{67A94B8A-615E-8BD9-7B80-F7E208EE1FD2}"/>
              </a:ext>
            </a:extLst>
          </p:cNvPr>
          <p:cNvSpPr/>
          <p:nvPr/>
        </p:nvSpPr>
        <p:spPr>
          <a:xfrm>
            <a:off x="9749304" y="3386246"/>
            <a:ext cx="0" cy="179914"/>
          </a:xfrm>
          <a:prstGeom prst="line">
            <a:avLst/>
          </a:prstGeom>
          <a:noFill/>
          <a:ln w="12700">
            <a:solidFill>
              <a:srgbClr val="6B6B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61024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368735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pic>
        <p:nvPicPr>
          <p:cNvPr id="3" name="Image 0" descr="/home/claude/css_pptx/logo_cropp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57255" y="256032"/>
            <a:ext cx="914400" cy="54137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538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 1–2 OF 8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658368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7A0C0C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Zero Padding &amp; Demux</a:t>
            </a:r>
            <a:endParaRPr lang="en-US" sz="30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50876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symbol coding can begin, the PHR+PSDU bitstream must be sized correctly and split into two parallel paths.</a:t>
            </a:r>
            <a:endParaRPr lang="en-US" sz="135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22860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E538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 → OUTPUT</a:t>
            </a:r>
            <a:endParaRPr lang="en-US" sz="11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86484251"/>
              </p:ext>
            </p:extLst>
          </p:nvPr>
        </p:nvGraphicFramePr>
        <p:xfrm>
          <a:off x="548640" y="2606040"/>
          <a:ext cx="5120640" cy="2743200"/>
        </p:xfrm>
        <a:graphic>
          <a:graphicData uri="http://schemas.openxmlformats.org/drawingml/2006/table">
            <a:tbl>
              <a:tblPr/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Signal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0C0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Description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0C0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Input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PHR bits + PSDU payload bits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Padding rule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Pad zeros so total bits are a multiple of N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 (250 kbps)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 bits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Demux rule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Even-indexed bits → I path,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Odd-indexed bits → Q path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" name="Shape 5"/>
          <p:cNvSpPr/>
          <p:nvPr/>
        </p:nvSpPr>
        <p:spPr>
          <a:xfrm>
            <a:off x="5989320" y="2286000"/>
            <a:ext cx="5623560" cy="3977640"/>
          </a:xfrm>
          <a:prstGeom prst="roundRect">
            <a:avLst>
              <a:gd name="adj" fmla="val 1839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6"/>
          <p:cNvSpPr txBox="1"/>
          <p:nvPr/>
        </p:nvSpPr>
        <p:spPr>
          <a:xfrm>
            <a:off x="6263640" y="2834817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7A0C0C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Why it matters</a:t>
            </a:r>
            <a:endParaRPr lang="en-US" sz="1450" dirty="0"/>
          </a:p>
        </p:txBody>
      </p:sp>
      <p:sp>
        <p:nvSpPr>
          <p:cNvPr id="11" name="Text 7"/>
          <p:cNvSpPr txBox="1"/>
          <p:nvPr/>
        </p:nvSpPr>
        <p:spPr>
          <a:xfrm>
            <a:off x="6240780" y="3292252"/>
            <a:ext cx="5120640" cy="20569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2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Zero Padding : </a:t>
            </a:r>
            <a:r>
              <a:rPr lang="en-US" sz="12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According to this equation </a:t>
            </a:r>
          </a:p>
          <a:p>
            <a:pPr marL="0" indent="0">
              <a:lnSpc>
                <a:spcPts val="19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PHR = 12 bit &amp; PPDU = Payload length * 8 </a:t>
            </a:r>
            <a:r>
              <a:rPr lang="en-US" sz="12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  <a:sym typeface="Wingdings" panose="05000000000000000000" pitchFamily="2" charset="2"/>
              </a:rPr>
              <a:t> </a:t>
            </a:r>
            <a:r>
              <a:rPr lang="en-US" sz="12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  <a:sym typeface="Wingdings" panose="05000000000000000000" pitchFamily="2" charset="2"/>
              </a:rPr>
              <a:t>12 + payload length*8 </a:t>
            </a:r>
            <a:endParaRPr lang="en-US" sz="1250" b="1" dirty="0">
              <a:solidFill>
                <a:srgbClr val="1A1A1A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>
              <a:lnSpc>
                <a:spcPts val="19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padding bits is determined according to payload length to be divisible by 24. </a:t>
            </a:r>
          </a:p>
          <a:p>
            <a:pPr marL="0" indent="0">
              <a:lnSpc>
                <a:spcPts val="1900"/>
              </a:lnSpc>
              <a:buNone/>
            </a:pPr>
            <a:endParaRPr lang="en-US" sz="1250" b="1" dirty="0">
              <a:solidFill>
                <a:srgbClr val="1A1A1A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>
              <a:lnSpc>
                <a:spcPts val="19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r>
              <a:rPr lang="en-US" sz="12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r>
              <a:rPr lang="en-US" sz="1250" b="1" dirty="0" err="1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Demux</a:t>
            </a:r>
            <a:r>
              <a:rPr lang="en-US" sz="12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: </a:t>
            </a:r>
            <a:r>
              <a:rPr lang="en-US" sz="12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Splits the padded stream into I (upper) and Q (lower) paths that are processed independently and in parallel.
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368735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pic>
        <p:nvPicPr>
          <p:cNvPr id="3" name="Image 0" descr="/home/claude/css_pptx/logo_cropp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57255" y="256032"/>
            <a:ext cx="914400" cy="54137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538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 3 OF 8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658368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7A0C0C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Symbol Mapper</a:t>
            </a:r>
            <a:endParaRPr lang="en-US" sz="30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50876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Converts each short sequence of raw bits into a longer, more robust codeword .</a:t>
            </a:r>
            <a:endParaRPr lang="en-US" sz="135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22860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E538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 → OUTPUT</a:t>
            </a:r>
            <a:endParaRPr lang="en-US" sz="11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96455695"/>
              </p:ext>
            </p:extLst>
          </p:nvPr>
        </p:nvGraphicFramePr>
        <p:xfrm>
          <a:off x="548640" y="2606040"/>
          <a:ext cx="5120640" cy="1316736"/>
        </p:xfrm>
        <a:graphic>
          <a:graphicData uri="http://schemas.openxmlformats.org/drawingml/2006/table">
            <a:tbl>
              <a:tblPr/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583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Signal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0C0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Description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0C0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250 kbps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 = 6 bits → m = 32 bits (rate 3/16)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5989320" y="2286000"/>
            <a:ext cx="5623560" cy="3977640"/>
          </a:xfrm>
          <a:prstGeom prst="roundRect">
            <a:avLst>
              <a:gd name="adj" fmla="val 1839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6"/>
          <p:cNvSpPr txBox="1"/>
          <p:nvPr/>
        </p:nvSpPr>
        <p:spPr>
          <a:xfrm>
            <a:off x="6263640" y="2944545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7A0C0C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How the codebook is built</a:t>
            </a:r>
            <a:endParaRPr lang="en-US" sz="1450" dirty="0"/>
          </a:p>
        </p:txBody>
      </p:sp>
      <p:sp>
        <p:nvSpPr>
          <p:cNvPr id="11" name="Text 7"/>
          <p:cNvSpPr txBox="1"/>
          <p:nvPr/>
        </p:nvSpPr>
        <p:spPr>
          <a:xfrm>
            <a:off x="6263640" y="2880360"/>
            <a:ext cx="512064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2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half </a:t>
            </a:r>
            <a:r>
              <a:rPr lang="en-US" sz="12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the codewords are Walsh–Hadamard codes (mutually orthogonal patterns).
</a:t>
            </a:r>
            <a:r>
              <a:rPr lang="en-US" sz="12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Second half </a:t>
            </a:r>
            <a:r>
              <a:rPr lang="en-US" sz="12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are the same codes with the sign negated.
</a:t>
            </a:r>
            <a:r>
              <a:rPr lang="en-US" sz="12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Effect: </a:t>
            </a:r>
            <a:r>
              <a:rPr lang="en-US" sz="12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 coding trades bit rate for redundancy — 250 kbps mode spends far more bits per symbol (3/16 rate).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368735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pic>
        <p:nvPicPr>
          <p:cNvPr id="3" name="Image 0" descr="/home/claude/css_pptx/logo_cropp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57255" y="256032"/>
            <a:ext cx="914400" cy="54137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538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 4 OF 8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658368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7A0C0C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Interleaver</a:t>
            </a:r>
            <a:endParaRPr lang="en-US" sz="30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50876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400" dirty="0"/>
              <a:t>Rearranges the coded bits so that consecutive errors are spread out, making them easier to correct.</a:t>
            </a:r>
            <a:endParaRPr lang="en-US" sz="135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22860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E538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 → OUTPUT</a:t>
            </a:r>
            <a:endParaRPr lang="en-US" sz="11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05621235"/>
              </p:ext>
            </p:extLst>
          </p:nvPr>
        </p:nvGraphicFramePr>
        <p:xfrm>
          <a:off x="548640" y="2606040"/>
          <a:ext cx="5120640" cy="2633472"/>
        </p:xfrm>
        <a:graphic>
          <a:graphicData uri="http://schemas.openxmlformats.org/drawingml/2006/table">
            <a:tbl>
              <a:tblPr/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583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Signal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0C0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Description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0C0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Used for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250 kbps data rate only.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Block size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64 bits → 16 groups (G0…G15) of 4 bits each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Group Gn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bits b4n … b4n+3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Shape 5"/>
          <p:cNvSpPr/>
          <p:nvPr/>
        </p:nvSpPr>
        <p:spPr>
          <a:xfrm>
            <a:off x="5989320" y="2286000"/>
            <a:ext cx="5623560" cy="3318387"/>
          </a:xfrm>
          <a:prstGeom prst="roundRect">
            <a:avLst>
              <a:gd name="adj" fmla="val 1839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6293815" y="2767254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7A0C0C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Interleaving pattern</a:t>
            </a:r>
            <a:endParaRPr lang="en-US" sz="1450" dirty="0"/>
          </a:p>
        </p:txBody>
      </p:sp>
      <p:sp>
        <p:nvSpPr>
          <p:cNvPr id="11" name="Text 7"/>
          <p:cNvSpPr txBox="1"/>
          <p:nvPr/>
        </p:nvSpPr>
        <p:spPr>
          <a:xfrm>
            <a:off x="6263640" y="2880360"/>
            <a:ext cx="512064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2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 order:  </a:t>
            </a:r>
            <a:r>
              <a:rPr lang="en-US" sz="12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G0 G1 G2 G3 G4 G5 G6 G7 G8 G9 G10 G11 G12 G13 G14 G15
</a:t>
            </a:r>
            <a:r>
              <a:rPr lang="en-US" sz="12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 order: </a:t>
            </a:r>
            <a:r>
              <a:rPr lang="en-US" sz="12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G0 G13 G2 G15 G4 G9 G6 G11 G8 G5 G10 G7 G12 G1 G14 G3
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0">
            <a:extLst>
              <a:ext uri="{FF2B5EF4-FFF2-40B4-BE49-F238E27FC236}">
                <a16:creationId xmlns:a16="http://schemas.microsoft.com/office/drawing/2014/main" id="{44F9ADAD-BCD1-E95F-A9CA-78C2B5ED9742}"/>
              </a:ext>
            </a:extLst>
          </p:cNvPr>
          <p:cNvSpPr txBox="1"/>
          <p:nvPr/>
        </p:nvSpPr>
        <p:spPr>
          <a:xfrm>
            <a:off x="11368735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pic>
        <p:nvPicPr>
          <p:cNvPr id="16" name="Image 0" descr="/home/claude/css_pptx/logo_cropped.png">
            <a:extLst>
              <a:ext uri="{FF2B5EF4-FFF2-40B4-BE49-F238E27FC236}">
                <a16:creationId xmlns:a16="http://schemas.microsoft.com/office/drawing/2014/main" id="{22520CC6-70E4-69FF-930E-FA2343E73D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57255" y="256032"/>
            <a:ext cx="914400" cy="541378"/>
          </a:xfrm>
          <a:prstGeom prst="rect">
            <a:avLst/>
          </a:prstGeom>
        </p:spPr>
      </p:pic>
      <p:sp>
        <p:nvSpPr>
          <p:cNvPr id="18" name="Text 1">
            <a:extLst>
              <a:ext uri="{FF2B5EF4-FFF2-40B4-BE49-F238E27FC236}">
                <a16:creationId xmlns:a16="http://schemas.microsoft.com/office/drawing/2014/main" id="{023109FF-A4F5-A53F-A427-7BAE0375952D}"/>
              </a:ext>
            </a:extLst>
          </p:cNvPr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538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 5 OF 8</a:t>
            </a:r>
            <a:endParaRPr lang="en-US" sz="1200" dirty="0"/>
          </a:p>
        </p:txBody>
      </p:sp>
      <p:sp>
        <p:nvSpPr>
          <p:cNvPr id="20" name="Text 2">
            <a:extLst>
              <a:ext uri="{FF2B5EF4-FFF2-40B4-BE49-F238E27FC236}">
                <a16:creationId xmlns:a16="http://schemas.microsoft.com/office/drawing/2014/main" id="{D2713C7B-B7F0-D12E-6BC3-9B3A474DFEDD}"/>
              </a:ext>
            </a:extLst>
          </p:cNvPr>
          <p:cNvSpPr txBox="1"/>
          <p:nvPr/>
        </p:nvSpPr>
        <p:spPr>
          <a:xfrm>
            <a:off x="548640" y="658368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7A0C0C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Form PPDU</a:t>
            </a:r>
            <a:endParaRPr lang="en-US" sz="3000" dirty="0"/>
          </a:p>
        </p:txBody>
      </p:sp>
      <p:sp>
        <p:nvSpPr>
          <p:cNvPr id="22" name="Text 3">
            <a:extLst>
              <a:ext uri="{FF2B5EF4-FFF2-40B4-BE49-F238E27FC236}">
                <a16:creationId xmlns:a16="http://schemas.microsoft.com/office/drawing/2014/main" id="{470D13C1-BEB8-173E-3788-56448147AD45}"/>
              </a:ext>
            </a:extLst>
          </p:cNvPr>
          <p:cNvSpPr txBox="1"/>
          <p:nvPr/>
        </p:nvSpPr>
        <p:spPr>
          <a:xfrm>
            <a:off x="548640" y="150876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Reassembles the fully processed I and Q bitstreams together with the preamble and SFD into the final packet structure.</a:t>
            </a:r>
            <a:endParaRPr lang="en-US" sz="1350" dirty="0"/>
          </a:p>
        </p:txBody>
      </p:sp>
      <p:sp>
        <p:nvSpPr>
          <p:cNvPr id="24" name="Text 4">
            <a:extLst>
              <a:ext uri="{FF2B5EF4-FFF2-40B4-BE49-F238E27FC236}">
                <a16:creationId xmlns:a16="http://schemas.microsoft.com/office/drawing/2014/main" id="{F1E8ABA7-519C-007A-C2FC-C9C7EC0CA79E}"/>
              </a:ext>
            </a:extLst>
          </p:cNvPr>
          <p:cNvSpPr txBox="1"/>
          <p:nvPr/>
        </p:nvSpPr>
        <p:spPr>
          <a:xfrm>
            <a:off x="548640" y="22860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E538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 → OUTPUT</a:t>
            </a:r>
            <a:endParaRPr lang="en-US" sz="1100" dirty="0"/>
          </a:p>
        </p:txBody>
      </p:sp>
      <p:graphicFrame>
        <p:nvGraphicFramePr>
          <p:cNvPr id="26" name="Table 0">
            <a:extLst>
              <a:ext uri="{FF2B5EF4-FFF2-40B4-BE49-F238E27FC236}">
                <a16:creationId xmlns:a16="http://schemas.microsoft.com/office/drawing/2014/main" id="{2B58924D-9822-19AF-6733-DADF344E5A5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05001675"/>
              </p:ext>
            </p:extLst>
          </p:nvPr>
        </p:nvGraphicFramePr>
        <p:xfrm>
          <a:off x="548640" y="2606040"/>
          <a:ext cx="5120640" cy="1615440"/>
        </p:xfrm>
        <a:graphic>
          <a:graphicData uri="http://schemas.openxmlformats.org/drawingml/2006/table">
            <a:tbl>
              <a:tblPr/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Signal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0C0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Description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0C0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Inputs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Preamble, SFD, interleaved/coded PHR+PSDU (I &amp; Q)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Output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Complete PPDU bit sequence, ready for QPSK mapping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Order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Preamble → SFD → PHR → PSDU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8" name="Shape 5">
            <a:extLst>
              <a:ext uri="{FF2B5EF4-FFF2-40B4-BE49-F238E27FC236}">
                <a16:creationId xmlns:a16="http://schemas.microsoft.com/office/drawing/2014/main" id="{D944822C-0E35-99AC-B37F-EAB7A11D17DD}"/>
              </a:ext>
            </a:extLst>
          </p:cNvPr>
          <p:cNvSpPr/>
          <p:nvPr/>
        </p:nvSpPr>
        <p:spPr>
          <a:xfrm>
            <a:off x="5989320" y="2286000"/>
            <a:ext cx="5623560" cy="2148840"/>
          </a:xfrm>
          <a:prstGeom prst="roundRect">
            <a:avLst>
              <a:gd name="adj" fmla="val 3404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6">
            <a:extLst>
              <a:ext uri="{FF2B5EF4-FFF2-40B4-BE49-F238E27FC236}">
                <a16:creationId xmlns:a16="http://schemas.microsoft.com/office/drawing/2014/main" id="{CFCBC0BB-7937-759F-A724-3711666FA67A}"/>
              </a:ext>
            </a:extLst>
          </p:cNvPr>
          <p:cNvSpPr txBox="1"/>
          <p:nvPr/>
        </p:nvSpPr>
        <p:spPr>
          <a:xfrm>
            <a:off x="6263640" y="2487168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7A0C0C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Role in the chain</a:t>
            </a:r>
            <a:endParaRPr lang="en-US" sz="1450" dirty="0"/>
          </a:p>
        </p:txBody>
      </p:sp>
      <p:sp>
        <p:nvSpPr>
          <p:cNvPr id="32" name="Text 7">
            <a:extLst>
              <a:ext uri="{FF2B5EF4-FFF2-40B4-BE49-F238E27FC236}">
                <a16:creationId xmlns:a16="http://schemas.microsoft.com/office/drawing/2014/main" id="{D0232B0A-55B1-154C-C291-6BA8AF285420}"/>
              </a:ext>
            </a:extLst>
          </p:cNvPr>
          <p:cNvSpPr txBox="1"/>
          <p:nvPr/>
        </p:nvSpPr>
        <p:spPr>
          <a:xfrm>
            <a:off x="6240780" y="2724912"/>
            <a:ext cx="51206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2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block is the reassembly point </a:t>
            </a:r>
            <a:r>
              <a:rPr lang="en-US" sz="12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the transmitter: everything generated earlier, fixed sync fields and the two coded/interleaved data paths, is stitched into one continuous packet.
</a:t>
            </a:r>
            <a:r>
              <a:rPr lang="en-US" sz="12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It's a structural, not a coding, step: </a:t>
            </a:r>
            <a:r>
              <a:rPr lang="en-US" sz="12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bit values change here, only their placement into the final PPDU frame that feeds the QPSK Mapper.</a:t>
            </a:r>
            <a:endParaRPr lang="en-US" sz="1250" dirty="0"/>
          </a:p>
        </p:txBody>
      </p:sp>
      <p:sp>
        <p:nvSpPr>
          <p:cNvPr id="34" name="Text 8">
            <a:extLst>
              <a:ext uri="{FF2B5EF4-FFF2-40B4-BE49-F238E27FC236}">
                <a16:creationId xmlns:a16="http://schemas.microsoft.com/office/drawing/2014/main" id="{0686C940-CC53-8BEB-EE22-177297160B96}"/>
              </a:ext>
            </a:extLst>
          </p:cNvPr>
          <p:cNvSpPr txBox="1"/>
          <p:nvPr/>
        </p:nvSpPr>
        <p:spPr>
          <a:xfrm>
            <a:off x="548640" y="47091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E538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PACKET ASSEMBLY</a:t>
            </a:r>
            <a:endParaRPr lang="en-US" sz="1100" dirty="0"/>
          </a:p>
        </p:txBody>
      </p:sp>
      <p:sp>
        <p:nvSpPr>
          <p:cNvPr id="36" name="Shape 9">
            <a:extLst>
              <a:ext uri="{FF2B5EF4-FFF2-40B4-BE49-F238E27FC236}">
                <a16:creationId xmlns:a16="http://schemas.microsoft.com/office/drawing/2014/main" id="{C0E6C333-8E63-2A42-04D4-71E425F16EE3}"/>
              </a:ext>
            </a:extLst>
          </p:cNvPr>
          <p:cNvSpPr/>
          <p:nvPr/>
        </p:nvSpPr>
        <p:spPr>
          <a:xfrm>
            <a:off x="548640" y="5029200"/>
            <a:ext cx="2377440" cy="502920"/>
          </a:xfrm>
          <a:prstGeom prst="roundRect">
            <a:avLst>
              <a:gd name="adj" fmla="val 9091"/>
            </a:avLst>
          </a:prstGeom>
          <a:solidFill>
            <a:srgbClr val="E538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10">
            <a:extLst>
              <a:ext uri="{FF2B5EF4-FFF2-40B4-BE49-F238E27FC236}">
                <a16:creationId xmlns:a16="http://schemas.microsoft.com/office/drawing/2014/main" id="{8E3EF428-B73C-717F-21A0-34619ED493C5}"/>
              </a:ext>
            </a:extLst>
          </p:cNvPr>
          <p:cNvSpPr txBox="1"/>
          <p:nvPr/>
        </p:nvSpPr>
        <p:spPr>
          <a:xfrm>
            <a:off x="548640" y="5029200"/>
            <a:ext cx="2377440" cy="502920"/>
          </a:xfrm>
          <a:prstGeom prst="rect">
            <a:avLst/>
          </a:prstGeom>
          <a:solidFill>
            <a:srgbClr val="FFB3B3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Preamble</a:t>
            </a:r>
            <a:endParaRPr lang="en-US" sz="1150" dirty="0"/>
          </a:p>
        </p:txBody>
      </p:sp>
      <p:sp>
        <p:nvSpPr>
          <p:cNvPr id="40" name="Shape 11">
            <a:extLst>
              <a:ext uri="{FF2B5EF4-FFF2-40B4-BE49-F238E27FC236}">
                <a16:creationId xmlns:a16="http://schemas.microsoft.com/office/drawing/2014/main" id="{3CB9A479-407D-3113-B56D-1CFE4ED1FED3}"/>
              </a:ext>
            </a:extLst>
          </p:cNvPr>
          <p:cNvSpPr/>
          <p:nvPr/>
        </p:nvSpPr>
        <p:spPr>
          <a:xfrm>
            <a:off x="3322320" y="5029200"/>
            <a:ext cx="2377440" cy="502920"/>
          </a:xfrm>
          <a:prstGeom prst="roundRect">
            <a:avLst>
              <a:gd name="adj" fmla="val 9091"/>
            </a:avLst>
          </a:prstGeom>
          <a:solidFill>
            <a:srgbClr val="C1121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Text 12">
            <a:extLst>
              <a:ext uri="{FF2B5EF4-FFF2-40B4-BE49-F238E27FC236}">
                <a16:creationId xmlns:a16="http://schemas.microsoft.com/office/drawing/2014/main" id="{7940C2B6-C51C-8EF3-B33D-AA596385FB4B}"/>
              </a:ext>
            </a:extLst>
          </p:cNvPr>
          <p:cNvSpPr txBox="1"/>
          <p:nvPr/>
        </p:nvSpPr>
        <p:spPr>
          <a:xfrm>
            <a:off x="3322320" y="5029200"/>
            <a:ext cx="2377440" cy="502920"/>
          </a:xfrm>
          <a:prstGeom prst="rect">
            <a:avLst/>
          </a:prstGeom>
          <a:solidFill>
            <a:srgbClr val="E5383B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SFD</a:t>
            </a:r>
            <a:endParaRPr lang="en-US" sz="1150" dirty="0"/>
          </a:p>
        </p:txBody>
      </p:sp>
      <p:sp>
        <p:nvSpPr>
          <p:cNvPr id="44" name="Shape 13">
            <a:extLst>
              <a:ext uri="{FF2B5EF4-FFF2-40B4-BE49-F238E27FC236}">
                <a16:creationId xmlns:a16="http://schemas.microsoft.com/office/drawing/2014/main" id="{C69927CD-2248-EA74-F741-A0277EE4ACC5}"/>
              </a:ext>
            </a:extLst>
          </p:cNvPr>
          <p:cNvSpPr/>
          <p:nvPr/>
        </p:nvSpPr>
        <p:spPr>
          <a:xfrm>
            <a:off x="6096000" y="5029200"/>
            <a:ext cx="2377440" cy="502920"/>
          </a:xfrm>
          <a:prstGeom prst="roundRect">
            <a:avLst>
              <a:gd name="adj" fmla="val 9091"/>
            </a:avLst>
          </a:prstGeom>
          <a:solidFill>
            <a:srgbClr val="E538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" name="Text 14">
            <a:extLst>
              <a:ext uri="{FF2B5EF4-FFF2-40B4-BE49-F238E27FC236}">
                <a16:creationId xmlns:a16="http://schemas.microsoft.com/office/drawing/2014/main" id="{9D24199D-8206-148D-A9D9-D27AA16AC9B9}"/>
              </a:ext>
            </a:extLst>
          </p:cNvPr>
          <p:cNvSpPr txBox="1"/>
          <p:nvPr/>
        </p:nvSpPr>
        <p:spPr>
          <a:xfrm>
            <a:off x="6096000" y="5029200"/>
            <a:ext cx="2377440" cy="502920"/>
          </a:xfrm>
          <a:prstGeom prst="rect">
            <a:avLst/>
          </a:prstGeom>
          <a:solidFill>
            <a:srgbClr val="D90429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PHR</a:t>
            </a:r>
            <a:endParaRPr lang="en-US" sz="1150" dirty="0"/>
          </a:p>
        </p:txBody>
      </p:sp>
      <p:sp>
        <p:nvSpPr>
          <p:cNvPr id="48" name="Shape 15">
            <a:extLst>
              <a:ext uri="{FF2B5EF4-FFF2-40B4-BE49-F238E27FC236}">
                <a16:creationId xmlns:a16="http://schemas.microsoft.com/office/drawing/2014/main" id="{519AE35B-0AFE-D721-73AC-A31C7FEF0144}"/>
              </a:ext>
            </a:extLst>
          </p:cNvPr>
          <p:cNvSpPr/>
          <p:nvPr/>
        </p:nvSpPr>
        <p:spPr>
          <a:xfrm>
            <a:off x="8869680" y="5029200"/>
            <a:ext cx="2377440" cy="502920"/>
          </a:xfrm>
          <a:prstGeom prst="roundRect">
            <a:avLst>
              <a:gd name="adj" fmla="val 9091"/>
            </a:avLst>
          </a:prstGeom>
          <a:solidFill>
            <a:srgbClr val="C1121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0" name="Text 16">
            <a:extLst>
              <a:ext uri="{FF2B5EF4-FFF2-40B4-BE49-F238E27FC236}">
                <a16:creationId xmlns:a16="http://schemas.microsoft.com/office/drawing/2014/main" id="{B5A7A893-2975-500F-6C02-47274BD130F9}"/>
              </a:ext>
            </a:extLst>
          </p:cNvPr>
          <p:cNvSpPr txBox="1"/>
          <p:nvPr/>
        </p:nvSpPr>
        <p:spPr>
          <a:xfrm>
            <a:off x="8869680" y="502920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PSDU</a:t>
            </a:r>
            <a:endParaRPr lang="en-US" sz="1150" dirty="0"/>
          </a:p>
          <a:p>
            <a:pPr marL="0" indent="0" algn="ctr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(I &amp; Q)</a:t>
            </a:r>
            <a:endParaRPr lang="en-US" sz="1150" dirty="0"/>
          </a:p>
        </p:txBody>
      </p:sp>
      <p:sp>
        <p:nvSpPr>
          <p:cNvPr id="52" name="Shape 17">
            <a:extLst>
              <a:ext uri="{FF2B5EF4-FFF2-40B4-BE49-F238E27FC236}">
                <a16:creationId xmlns:a16="http://schemas.microsoft.com/office/drawing/2014/main" id="{FC8A3146-C1C9-B940-04DB-E9BC9540E70B}"/>
              </a:ext>
            </a:extLst>
          </p:cNvPr>
          <p:cNvSpPr/>
          <p:nvPr/>
        </p:nvSpPr>
        <p:spPr>
          <a:xfrm>
            <a:off x="1636776" y="5586984"/>
            <a:ext cx="201168" cy="384048"/>
          </a:xfrm>
          <a:prstGeom prst="downArrow">
            <a:avLst/>
          </a:prstGeom>
          <a:solidFill>
            <a:srgbClr val="6B6B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4" name="Shape 18">
            <a:extLst>
              <a:ext uri="{FF2B5EF4-FFF2-40B4-BE49-F238E27FC236}">
                <a16:creationId xmlns:a16="http://schemas.microsoft.com/office/drawing/2014/main" id="{C5DF7C9A-0CE9-D630-1D2D-88F6D667BB24}"/>
              </a:ext>
            </a:extLst>
          </p:cNvPr>
          <p:cNvSpPr/>
          <p:nvPr/>
        </p:nvSpPr>
        <p:spPr>
          <a:xfrm>
            <a:off x="4410456" y="5586984"/>
            <a:ext cx="201168" cy="384048"/>
          </a:xfrm>
          <a:prstGeom prst="downArrow">
            <a:avLst/>
          </a:prstGeom>
          <a:solidFill>
            <a:srgbClr val="6B6B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6" name="Shape 19">
            <a:extLst>
              <a:ext uri="{FF2B5EF4-FFF2-40B4-BE49-F238E27FC236}">
                <a16:creationId xmlns:a16="http://schemas.microsoft.com/office/drawing/2014/main" id="{B809ECDF-4D40-E215-ADDC-DCCA1A731036}"/>
              </a:ext>
            </a:extLst>
          </p:cNvPr>
          <p:cNvSpPr/>
          <p:nvPr/>
        </p:nvSpPr>
        <p:spPr>
          <a:xfrm>
            <a:off x="7184136" y="5586984"/>
            <a:ext cx="201168" cy="384048"/>
          </a:xfrm>
          <a:prstGeom prst="downArrow">
            <a:avLst/>
          </a:prstGeom>
          <a:solidFill>
            <a:srgbClr val="6B6B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8" name="Shape 20">
            <a:extLst>
              <a:ext uri="{FF2B5EF4-FFF2-40B4-BE49-F238E27FC236}">
                <a16:creationId xmlns:a16="http://schemas.microsoft.com/office/drawing/2014/main" id="{A1A19238-A24C-14BF-AD2E-0302AB1E7FAE}"/>
              </a:ext>
            </a:extLst>
          </p:cNvPr>
          <p:cNvSpPr/>
          <p:nvPr/>
        </p:nvSpPr>
        <p:spPr>
          <a:xfrm>
            <a:off x="9957816" y="5586984"/>
            <a:ext cx="201168" cy="384048"/>
          </a:xfrm>
          <a:prstGeom prst="downArrow">
            <a:avLst/>
          </a:prstGeom>
          <a:solidFill>
            <a:srgbClr val="6B6B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0" name="Shape 21">
            <a:extLst>
              <a:ext uri="{FF2B5EF4-FFF2-40B4-BE49-F238E27FC236}">
                <a16:creationId xmlns:a16="http://schemas.microsoft.com/office/drawing/2014/main" id="{7F4C113D-2E80-F76E-48DA-6176B4B5052F}"/>
              </a:ext>
            </a:extLst>
          </p:cNvPr>
          <p:cNvSpPr/>
          <p:nvPr/>
        </p:nvSpPr>
        <p:spPr>
          <a:xfrm>
            <a:off x="548640" y="6044184"/>
            <a:ext cx="10698480" cy="594360"/>
          </a:xfrm>
          <a:prstGeom prst="roundRect">
            <a:avLst>
              <a:gd name="adj" fmla="val 9231"/>
            </a:avLst>
          </a:prstGeom>
          <a:solidFill>
            <a:srgbClr val="D9042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2" name="Text 22">
            <a:extLst>
              <a:ext uri="{FF2B5EF4-FFF2-40B4-BE49-F238E27FC236}">
                <a16:creationId xmlns:a16="http://schemas.microsoft.com/office/drawing/2014/main" id="{6C817736-960C-374C-2B59-79C123CAD220}"/>
              </a:ext>
            </a:extLst>
          </p:cNvPr>
          <p:cNvSpPr txBox="1"/>
          <p:nvPr/>
        </p:nvSpPr>
        <p:spPr>
          <a:xfrm>
            <a:off x="548640" y="6044184"/>
            <a:ext cx="10698480" cy="594360"/>
          </a:xfrm>
          <a:prstGeom prst="rect">
            <a:avLst/>
          </a:prstGeom>
          <a:solidFill>
            <a:srgbClr val="7A0C0C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PPDU  (Preamble + SFD + PHR + PSDU)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368735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pic>
        <p:nvPicPr>
          <p:cNvPr id="3" name="Image 0" descr="/home/claude/css_pptx/logo_cropp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57255" y="256032"/>
            <a:ext cx="914400" cy="54137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538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 6–7 OF 8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658368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7A0C0C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QPSK Mapper &amp; DQPSK Coding</a:t>
            </a:r>
            <a:endParaRPr lang="en-US" sz="30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508760"/>
            <a:ext cx="1069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I/Q bit pairs become QPSK phase symbols, then each symbol is differentially encoded against the symbol four positions earlier.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548640" y="2240280"/>
            <a:ext cx="5120640" cy="4023360"/>
          </a:xfrm>
          <a:prstGeom prst="roundRect">
            <a:avLst>
              <a:gd name="adj" fmla="val 1818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 txBox="1"/>
          <p:nvPr/>
        </p:nvSpPr>
        <p:spPr>
          <a:xfrm>
            <a:off x="822960" y="24231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7A0C0C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QPSK Mapper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1051560" y="4297680"/>
            <a:ext cx="2651760" cy="0"/>
          </a:xfrm>
          <a:prstGeom prst="line">
            <a:avLst/>
          </a:prstGeom>
          <a:noFill/>
          <a:ln w="12700">
            <a:solidFill>
              <a:srgbClr val="6B6B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2377440" y="2971800"/>
            <a:ext cx="0" cy="2651760"/>
          </a:xfrm>
          <a:prstGeom prst="line">
            <a:avLst/>
          </a:prstGeom>
          <a:noFill/>
          <a:ln w="12700">
            <a:solidFill>
              <a:srgbClr val="6B6B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1609344" y="3529584"/>
            <a:ext cx="164592" cy="164592"/>
          </a:xfrm>
          <a:prstGeom prst="ellipse">
            <a:avLst/>
          </a:prstGeom>
          <a:solidFill>
            <a:srgbClr val="D9042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 txBox="1"/>
          <p:nvPr/>
        </p:nvSpPr>
        <p:spPr>
          <a:xfrm>
            <a:off x="1234440" y="322783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A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(-1,1)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2980944" y="3529584"/>
            <a:ext cx="164592" cy="164592"/>
          </a:xfrm>
          <a:prstGeom prst="ellipse">
            <a:avLst/>
          </a:prstGeom>
          <a:solidFill>
            <a:srgbClr val="D9042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 txBox="1"/>
          <p:nvPr/>
        </p:nvSpPr>
        <p:spPr>
          <a:xfrm>
            <a:off x="2606040" y="322783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A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(1,1)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1609344" y="4901184"/>
            <a:ext cx="164592" cy="164592"/>
          </a:xfrm>
          <a:prstGeom prst="ellipse">
            <a:avLst/>
          </a:prstGeom>
          <a:solidFill>
            <a:srgbClr val="D9042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 txBox="1"/>
          <p:nvPr/>
        </p:nvSpPr>
        <p:spPr>
          <a:xfrm>
            <a:off x="1234440" y="5111496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A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(-1,-1)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2980944" y="4901184"/>
            <a:ext cx="164592" cy="164592"/>
          </a:xfrm>
          <a:prstGeom prst="ellipse">
            <a:avLst/>
          </a:prstGeom>
          <a:solidFill>
            <a:srgbClr val="D9042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 txBox="1"/>
          <p:nvPr/>
        </p:nvSpPr>
        <p:spPr>
          <a:xfrm>
            <a:off x="2606040" y="5111496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A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(1,-1)</a:t>
            </a:r>
            <a:endParaRPr lang="en-US" sz="1000" dirty="0"/>
          </a:p>
        </p:txBody>
      </p:sp>
      <p:sp>
        <p:nvSpPr>
          <p:cNvPr id="19" name="Text 16"/>
          <p:cNvSpPr txBox="1"/>
          <p:nvPr/>
        </p:nvSpPr>
        <p:spPr>
          <a:xfrm>
            <a:off x="822960" y="562356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and Q bit pairs select one of four QPSK phase points from this constellation.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5943600" y="2240280"/>
            <a:ext cx="5669280" cy="4023360"/>
          </a:xfrm>
          <a:prstGeom prst="roundRect">
            <a:avLst>
              <a:gd name="adj" fmla="val 1818"/>
            </a:avLst>
          </a:prstGeom>
          <a:solidFill>
            <a:srgbClr val="C1121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 txBox="1"/>
          <p:nvPr/>
        </p:nvSpPr>
        <p:spPr>
          <a:xfrm>
            <a:off x="6217920" y="265073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DQPSK Coding</a:t>
            </a:r>
            <a:endParaRPr lang="en-US" sz="1450" dirty="0"/>
          </a:p>
        </p:txBody>
      </p:sp>
      <p:sp>
        <p:nvSpPr>
          <p:cNvPr id="22" name="Text 19"/>
          <p:cNvSpPr txBox="1"/>
          <p:nvPr/>
        </p:nvSpPr>
        <p:spPr>
          <a:xfrm>
            <a:off x="6217920" y="308507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chemeClr val="bg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Sₙ  =  Xₙ · Sₙ₋₄</a:t>
            </a:r>
            <a:endParaRPr lang="en-US" sz="2400" dirty="0">
              <a:solidFill>
                <a:schemeClr val="bg2"/>
              </a:solidFill>
            </a:endParaRPr>
          </a:p>
        </p:txBody>
      </p:sp>
      <p:sp>
        <p:nvSpPr>
          <p:cNvPr id="23" name="Text 20"/>
          <p:cNvSpPr txBox="1"/>
          <p:nvPr/>
        </p:nvSpPr>
        <p:spPr>
          <a:xfrm>
            <a:off x="6217920" y="3611880"/>
            <a:ext cx="512064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00" b="1" dirty="0">
                <a:solidFill>
                  <a:srgbClr val="FFB3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Xₙ  </a:t>
            </a:r>
            <a:r>
              <a:rPr lang="en-US" sz="1200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output of the QPSK Mapper (current symbol)
</a:t>
            </a:r>
            <a:r>
              <a:rPr lang="en-US" sz="1200" b="1" dirty="0">
                <a:solidFill>
                  <a:srgbClr val="FFB3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Sₙ  </a:t>
            </a:r>
            <a:r>
              <a:rPr lang="en-US" sz="1200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differentially-coded output symbol
</a:t>
            </a:r>
            <a:r>
              <a:rPr lang="en-US" sz="1200" b="1" dirty="0">
                <a:solidFill>
                  <a:srgbClr val="FFB3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Sₙ₋₄ </a:t>
            </a:r>
            <a:r>
              <a:rPr lang="en-US" sz="1200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output from 4 symbols earlier (fed back)
</a:t>
            </a:r>
            <a:r>
              <a:rPr lang="en-US" sz="1200" b="1" dirty="0">
                <a:solidFill>
                  <a:srgbClr val="FFB3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Initial condition:  </a:t>
            </a:r>
            <a:r>
              <a:rPr lang="en-US" sz="1200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S₀ = S₁ = S₂ = S₃ = exp(jπ/4)
</a:t>
            </a:r>
            <a:r>
              <a:rPr lang="en-US" sz="1200" b="1" dirty="0">
                <a:solidFill>
                  <a:srgbClr val="FFB3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differential? </a:t>
            </a:r>
            <a:r>
              <a:rPr lang="en-US" sz="1200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receiver can demodulate using the phase difference between symbols, avoiding the need for an absolute phase reference — simpler, more robust receiver design.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368735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000" dirty="0"/>
          </a:p>
        </p:txBody>
      </p:sp>
      <p:pic>
        <p:nvPicPr>
          <p:cNvPr id="3" name="Image 0" descr="/home/claude/css_pptx/logo_cropp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57255" y="256032"/>
            <a:ext cx="914400" cy="54137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538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 8 OF 8 — THE CORE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658368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7A0C0C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CSK Generation &amp; Chirp Modulation</a:t>
            </a:r>
            <a:endParaRPr lang="en-US" sz="30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50876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key process in the CSS transmitter: each DQPSK symbol selects one of 4 possible Chirp Sequences, built from 4 sinusoidal subchirps plus a time gap.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548640" y="2331720"/>
            <a:ext cx="2199132" cy="685800"/>
          </a:xfrm>
          <a:prstGeom prst="rect">
            <a:avLst/>
          </a:prstGeom>
          <a:solidFill>
            <a:srgbClr val="C1121F"/>
          </a:solidFill>
          <a:ln w="1524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 txBox="1"/>
          <p:nvPr/>
        </p:nvSpPr>
        <p:spPr>
          <a:xfrm>
            <a:off x="548640" y="2331720"/>
            <a:ext cx="21991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k=0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2747772" y="2331720"/>
            <a:ext cx="2199132" cy="685800"/>
          </a:xfrm>
          <a:prstGeom prst="rect">
            <a:avLst/>
          </a:prstGeom>
          <a:solidFill>
            <a:srgbClr val="E5383B"/>
          </a:solidFill>
          <a:ln w="1524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 txBox="1"/>
          <p:nvPr/>
        </p:nvSpPr>
        <p:spPr>
          <a:xfrm>
            <a:off x="2747772" y="2331720"/>
            <a:ext cx="2199132" cy="685800"/>
          </a:xfrm>
          <a:prstGeom prst="rect">
            <a:avLst/>
          </a:prstGeom>
          <a:solidFill>
            <a:srgbClr val="D90429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k=1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946904" y="2331720"/>
            <a:ext cx="2199132" cy="685800"/>
          </a:xfrm>
          <a:prstGeom prst="rect">
            <a:avLst/>
          </a:prstGeom>
          <a:solidFill>
            <a:srgbClr val="FFB3B3"/>
          </a:solidFill>
          <a:ln w="1524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 txBox="1"/>
          <p:nvPr/>
        </p:nvSpPr>
        <p:spPr>
          <a:xfrm>
            <a:off x="4946904" y="2331720"/>
            <a:ext cx="2199132" cy="685800"/>
          </a:xfrm>
          <a:prstGeom prst="rect">
            <a:avLst/>
          </a:prstGeom>
          <a:solidFill>
            <a:srgbClr val="E5383B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k=2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7146036" y="2331720"/>
            <a:ext cx="2199132" cy="685800"/>
          </a:xfrm>
          <a:prstGeom prst="rect">
            <a:avLst/>
          </a:prstGeom>
          <a:solidFill>
            <a:srgbClr val="D90429"/>
          </a:solidFill>
          <a:ln w="1524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 txBox="1"/>
          <p:nvPr/>
        </p:nvSpPr>
        <p:spPr>
          <a:xfrm>
            <a:off x="7146036" y="2331720"/>
            <a:ext cx="2199132" cy="685800"/>
          </a:xfrm>
          <a:prstGeom prst="rect">
            <a:avLst/>
          </a:prstGeom>
          <a:solidFill>
            <a:srgbClr val="FFB3B3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k=3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9345168" y="2331720"/>
            <a:ext cx="1901952" cy="685800"/>
          </a:xfrm>
          <a:prstGeom prst="rect">
            <a:avLst/>
          </a:prstGeom>
          <a:solidFill>
            <a:srgbClr val="C9D6DE"/>
          </a:solidFill>
          <a:ln w="1524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 txBox="1"/>
          <p:nvPr/>
        </p:nvSpPr>
        <p:spPr>
          <a:xfrm>
            <a:off x="9345168" y="2331720"/>
            <a:ext cx="19019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T-gap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548640" y="3090672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subchirps × 38 samples (1.1875 µs each), modulated by Sₙ, Sₙ₊₁, Sₙ₊₂, Sₙ₊₃</a:t>
            </a:r>
            <a:endParaRPr lang="en-US" sz="1050" dirty="0"/>
          </a:p>
        </p:txBody>
      </p:sp>
      <p:sp>
        <p:nvSpPr>
          <p:cNvPr id="18" name="Text 15"/>
          <p:cNvSpPr txBox="1"/>
          <p:nvPr/>
        </p:nvSpPr>
        <p:spPr>
          <a:xfrm>
            <a:off x="7498080" y="309067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Teven + Todd = 80 samples (2.5 µs), split depends on index m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548640" y="3703320"/>
            <a:ext cx="5212080" cy="2606040"/>
          </a:xfrm>
          <a:prstGeom prst="roundRect">
            <a:avLst>
              <a:gd name="adj" fmla="val 2807"/>
            </a:avLst>
          </a:prstGeom>
          <a:solidFill>
            <a:srgbClr val="7A0C0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 txBox="1"/>
          <p:nvPr/>
        </p:nvSpPr>
        <p:spPr>
          <a:xfrm>
            <a:off x="822960" y="38862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D90429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Subchirp equation</a:t>
            </a:r>
            <a:endParaRPr lang="en-US" sz="1350" dirty="0"/>
          </a:p>
        </p:txBody>
      </p:sp>
      <p:sp>
        <p:nvSpPr>
          <p:cNvPr id="21" name="Text 18"/>
          <p:cNvSpPr txBox="1"/>
          <p:nvPr/>
        </p:nvSpPr>
        <p:spPr>
          <a:xfrm>
            <a:off x="822960" y="4251960"/>
            <a:ext cx="4709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Subchirpₘ,ₖ = exp[ j2π( fₖ,ₘ/fs + μξₖ,ₘ·array / 2fs² ) · array ] · RaisedCosine</a:t>
            </a: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822960" y="5029200"/>
            <a:ext cx="4709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00" b="1" dirty="0">
                <a:solidFill>
                  <a:srgbClr val="FFB3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fs </a:t>
            </a:r>
            <a:r>
              <a:rPr lang="en-US" sz="1100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32 MHz sampling rate
</a:t>
            </a:r>
            <a:r>
              <a:rPr lang="en-US" sz="1100" b="1" dirty="0">
                <a:solidFill>
                  <a:srgbClr val="FFB3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fₖ,ₘ </a:t>
            </a:r>
            <a:r>
              <a:rPr lang="en-US" sz="1100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±3.15 MHz center frequency (sign per table)
</a:t>
            </a:r>
            <a:r>
              <a:rPr lang="en-US" sz="1100" b="1" dirty="0">
                <a:solidFill>
                  <a:srgbClr val="FFB3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ξₖ,ₘ </a:t>
            </a:r>
            <a:r>
              <a:rPr lang="en-US" sz="1100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±1, chirp sweeps up or down
</a:t>
            </a:r>
            <a:r>
              <a:rPr lang="en-US" sz="1100" b="1" dirty="0">
                <a:solidFill>
                  <a:srgbClr val="FFB3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μ </a:t>
            </a:r>
            <a:r>
              <a:rPr lang="en-US" sz="1100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7.3158 s⁻² chirp rate constant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5989320" y="3703320"/>
            <a:ext cx="5623560" cy="2606040"/>
          </a:xfrm>
          <a:prstGeom prst="roundRect">
            <a:avLst>
              <a:gd name="adj" fmla="val 2807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 txBox="1"/>
          <p:nvPr/>
        </p:nvSpPr>
        <p:spPr>
          <a:xfrm>
            <a:off x="6263640" y="388620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7A0C0C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Index m selects the time gap</a:t>
            </a:r>
            <a:endParaRPr lang="en-US" sz="135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63640" y="4251960"/>
          <a:ext cx="2743200" cy="1737360"/>
        </p:xfrm>
        <a:graphic>
          <a:graphicData uri="http://schemas.openxmlformats.org/drawingml/2006/table">
            <a:tbl>
              <a:tblPr/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9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12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Teven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9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12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Todd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9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12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9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9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9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9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9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9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9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9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9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9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9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9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6" name="Text 22"/>
          <p:cNvSpPr txBox="1"/>
          <p:nvPr/>
        </p:nvSpPr>
        <p:spPr>
          <a:xfrm>
            <a:off x="9235440" y="4251960"/>
            <a:ext cx="22860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Raised-cosine shaping (roll-off α = 0.25) smooths subchirp edges to control out-of-band emission.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35345EF-22DF-A05B-D4BB-63AD1B2BF4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F187E5E6-89CE-BF1B-A4EA-09EC227C658F}"/>
              </a:ext>
            </a:extLst>
          </p:cNvPr>
          <p:cNvSpPr txBox="1"/>
          <p:nvPr/>
        </p:nvSpPr>
        <p:spPr>
          <a:xfrm>
            <a:off x="11368735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000" dirty="0"/>
          </a:p>
        </p:txBody>
      </p:sp>
      <p:pic>
        <p:nvPicPr>
          <p:cNvPr id="3" name="Image 0" descr="/home/claude/css_pptx/logo_cropped.png">
            <a:extLst>
              <a:ext uri="{FF2B5EF4-FFF2-40B4-BE49-F238E27FC236}">
                <a16:creationId xmlns:a16="http://schemas.microsoft.com/office/drawing/2014/main" id="{12BED549-734F-30B1-1C25-C8348EE919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57255" y="256032"/>
            <a:ext cx="914400" cy="541378"/>
          </a:xfrm>
          <a:prstGeom prst="rect">
            <a:avLst/>
          </a:prstGeom>
        </p:spPr>
      </p:pic>
      <p:sp>
        <p:nvSpPr>
          <p:cNvPr id="4" name="Text 1">
            <a:extLst>
              <a:ext uri="{FF2B5EF4-FFF2-40B4-BE49-F238E27FC236}">
                <a16:creationId xmlns:a16="http://schemas.microsoft.com/office/drawing/2014/main" id="{EEF086CA-0B83-5FF3-4C7A-C7897C7AFCB5}"/>
              </a:ext>
            </a:extLst>
          </p:cNvPr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538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 8 OF 8 — THE CORE</a:t>
            </a:r>
            <a:endParaRPr lang="en-US" sz="1200" dirty="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FC0B2ACE-20D3-34FF-42E0-F275F0FB8554}"/>
              </a:ext>
            </a:extLst>
          </p:cNvPr>
          <p:cNvSpPr txBox="1"/>
          <p:nvPr/>
        </p:nvSpPr>
        <p:spPr>
          <a:xfrm>
            <a:off x="548640" y="658368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7A0C0C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Final Multiplier</a:t>
            </a:r>
          </a:p>
        </p:txBody>
      </p:sp>
      <p:sp>
        <p:nvSpPr>
          <p:cNvPr id="29" name="TextBox 3">
            <a:extLst>
              <a:ext uri="{FF2B5EF4-FFF2-40B4-BE49-F238E27FC236}">
                <a16:creationId xmlns:a16="http://schemas.microsoft.com/office/drawing/2014/main" id="{45979533-7FFB-6DFE-49A9-2A0E1ECFEEB6}"/>
              </a:ext>
            </a:extLst>
          </p:cNvPr>
          <p:cNvSpPr txBox="1"/>
          <p:nvPr/>
        </p:nvSpPr>
        <p:spPr>
          <a:xfrm>
            <a:off x="548640" y="1499616"/>
            <a:ext cx="107899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1350" b="0" i="0" dirty="0">
                <a:solidFill>
                  <a:srgbClr val="141414"/>
                </a:solidFill>
                <a:latin typeface="Arial"/>
              </a:rPr>
              <a:t>Multiplies the DQPSK symbol by the complex chirp sample to generate the final transmitted I/Q signal.</a:t>
            </a:r>
          </a:p>
        </p:txBody>
      </p:sp>
      <p:sp>
        <p:nvSpPr>
          <p:cNvPr id="31" name="TextBox 4">
            <a:extLst>
              <a:ext uri="{FF2B5EF4-FFF2-40B4-BE49-F238E27FC236}">
                <a16:creationId xmlns:a16="http://schemas.microsoft.com/office/drawing/2014/main" id="{AF464866-F075-6A59-2ECC-9CE78032F028}"/>
              </a:ext>
            </a:extLst>
          </p:cNvPr>
          <p:cNvSpPr txBox="1"/>
          <p:nvPr/>
        </p:nvSpPr>
        <p:spPr>
          <a:xfrm>
            <a:off x="655320" y="2071116"/>
            <a:ext cx="5074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1100" b="1" i="0">
                <a:solidFill>
                  <a:srgbClr val="141414"/>
                </a:solidFill>
                <a:latin typeface="Arial"/>
              </a:rPr>
              <a:t>INPUT → OUTPUT</a:t>
            </a:r>
          </a:p>
        </p:txBody>
      </p:sp>
      <p:pic>
        <p:nvPicPr>
          <p:cNvPr id="32" name="table">
            <a:extLst>
              <a:ext uri="{FF2B5EF4-FFF2-40B4-BE49-F238E27FC236}">
                <a16:creationId xmlns:a16="http://schemas.microsoft.com/office/drawing/2014/main" id="{23FBAE92-AF88-D1DD-2A19-0B8F727F0B0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5320" y="2398014"/>
            <a:ext cx="5074920" cy="1417320"/>
          </a:xfrm>
          <a:prstGeom prst="rect">
            <a:avLst/>
          </a:prstGeom>
        </p:spPr>
      </p:pic>
      <p:sp>
        <p:nvSpPr>
          <p:cNvPr id="33" name="TextBox 6">
            <a:extLst>
              <a:ext uri="{FF2B5EF4-FFF2-40B4-BE49-F238E27FC236}">
                <a16:creationId xmlns:a16="http://schemas.microsoft.com/office/drawing/2014/main" id="{FB4311F2-234C-E41D-F114-1779D0C78DBC}"/>
              </a:ext>
            </a:extLst>
          </p:cNvPr>
          <p:cNvSpPr txBox="1"/>
          <p:nvPr/>
        </p:nvSpPr>
        <p:spPr>
          <a:xfrm>
            <a:off x="655320" y="4128516"/>
            <a:ext cx="5074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1450" b="1" i="0">
                <a:solidFill>
                  <a:srgbClr val="141414"/>
                </a:solidFill>
                <a:latin typeface="Bookman Old Style"/>
              </a:rPr>
              <a:t>KEY EQUATIONS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CDAC2B82-6E16-3A7C-6C4F-9EA229CBFA5B}"/>
              </a:ext>
            </a:extLst>
          </p:cNvPr>
          <p:cNvSpPr/>
          <p:nvPr/>
        </p:nvSpPr>
        <p:spPr>
          <a:xfrm>
            <a:off x="655320" y="4494276"/>
            <a:ext cx="5074920" cy="685800"/>
          </a:xfrm>
          <a:prstGeom prst="rect">
            <a:avLst/>
          </a:prstGeom>
          <a:solidFill>
            <a:srgbClr val="F8F8F8"/>
          </a:solidFill>
          <a:ln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35" name="TextBox 8">
            <a:extLst>
              <a:ext uri="{FF2B5EF4-FFF2-40B4-BE49-F238E27FC236}">
                <a16:creationId xmlns:a16="http://schemas.microsoft.com/office/drawing/2014/main" id="{90745639-5C44-527F-D861-83DD655ED27C}"/>
              </a:ext>
            </a:extLst>
          </p:cNvPr>
          <p:cNvSpPr txBox="1"/>
          <p:nvPr/>
        </p:nvSpPr>
        <p:spPr>
          <a:xfrm>
            <a:off x="819912" y="4631436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1600" b="1" i="0">
                <a:solidFill>
                  <a:srgbClr val="141414"/>
                </a:solidFill>
                <a:latin typeface="Arial"/>
              </a:rPr>
              <a:t>Tx = Sₙ × (csk_real + j·csk_imag)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4E82411C-9731-7BB6-FCFC-E05F0EA464F7}"/>
              </a:ext>
            </a:extLst>
          </p:cNvPr>
          <p:cNvSpPr/>
          <p:nvPr/>
        </p:nvSpPr>
        <p:spPr>
          <a:xfrm>
            <a:off x="655320" y="5317236"/>
            <a:ext cx="5074920" cy="841248"/>
          </a:xfrm>
          <a:prstGeom prst="rect">
            <a:avLst/>
          </a:prstGeom>
          <a:solidFill>
            <a:srgbClr val="D90429"/>
          </a:solidFill>
          <a:ln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37" name="TextBox 10">
            <a:extLst>
              <a:ext uri="{FF2B5EF4-FFF2-40B4-BE49-F238E27FC236}">
                <a16:creationId xmlns:a16="http://schemas.microsoft.com/office/drawing/2014/main" id="{63CCE012-CA8E-0D37-BFD3-7989C83212AA}"/>
              </a:ext>
            </a:extLst>
          </p:cNvPr>
          <p:cNvSpPr txBox="1"/>
          <p:nvPr/>
        </p:nvSpPr>
        <p:spPr>
          <a:xfrm>
            <a:off x="819912" y="5417820"/>
            <a:ext cx="4754880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1250" b="0" i="0" dirty="0" err="1">
                <a:solidFill>
                  <a:schemeClr val="bg1"/>
                </a:solidFill>
                <a:latin typeface="Arial"/>
              </a:rPr>
              <a:t>tx_real</a:t>
            </a:r>
            <a:r>
              <a:rPr sz="1250" b="0" i="0" dirty="0">
                <a:solidFill>
                  <a:schemeClr val="bg1"/>
                </a:solidFill>
                <a:latin typeface="Arial"/>
              </a:rPr>
              <a:t> = Re(Sₙ)</a:t>
            </a:r>
            <a:r>
              <a:rPr lang="en-US" sz="1250" b="0" i="0" dirty="0">
                <a:solidFill>
                  <a:schemeClr val="bg1"/>
                </a:solidFill>
                <a:latin typeface="Arial"/>
              </a:rPr>
              <a:t> * </a:t>
            </a:r>
            <a:r>
              <a:rPr sz="1250" b="0" i="0" dirty="0" err="1">
                <a:solidFill>
                  <a:schemeClr val="bg1"/>
                </a:solidFill>
                <a:latin typeface="Arial"/>
              </a:rPr>
              <a:t>csk_real</a:t>
            </a:r>
            <a:r>
              <a:rPr sz="1250" b="0" i="0" dirty="0">
                <a:solidFill>
                  <a:schemeClr val="bg1"/>
                </a:solidFill>
                <a:latin typeface="Arial"/>
              </a:rPr>
              <a:t> − </a:t>
            </a:r>
            <a:r>
              <a:rPr sz="1250" b="0" i="0" dirty="0" err="1">
                <a:solidFill>
                  <a:schemeClr val="bg1"/>
                </a:solidFill>
                <a:latin typeface="Arial"/>
              </a:rPr>
              <a:t>Im</a:t>
            </a:r>
            <a:r>
              <a:rPr sz="1250" b="0" i="0" dirty="0">
                <a:solidFill>
                  <a:schemeClr val="bg1"/>
                </a:solidFill>
                <a:latin typeface="Arial"/>
              </a:rPr>
              <a:t>(Sₙ)</a:t>
            </a:r>
            <a:r>
              <a:rPr lang="en-US" sz="1250" b="0" i="0" dirty="0">
                <a:solidFill>
                  <a:schemeClr val="bg1"/>
                </a:solidFill>
                <a:latin typeface="Arial"/>
              </a:rPr>
              <a:t> * </a:t>
            </a:r>
            <a:r>
              <a:rPr sz="1250" b="0" i="0" dirty="0" err="1">
                <a:solidFill>
                  <a:schemeClr val="bg1"/>
                </a:solidFill>
                <a:latin typeface="Arial"/>
              </a:rPr>
              <a:t>csk_imag</a:t>
            </a:r>
            <a:r>
              <a:rPr sz="1250" b="0" i="0" dirty="0">
                <a:solidFill>
                  <a:schemeClr val="bg1"/>
                </a:solidFill>
                <a:latin typeface="Arial"/>
              </a:rPr>
              <a:t>
</a:t>
            </a:r>
            <a:r>
              <a:rPr sz="1250" b="0" i="0" dirty="0" err="1">
                <a:solidFill>
                  <a:schemeClr val="bg1"/>
                </a:solidFill>
                <a:latin typeface="Arial"/>
              </a:rPr>
              <a:t>tx_imag</a:t>
            </a:r>
            <a:r>
              <a:rPr sz="1250" b="0" i="0" dirty="0">
                <a:solidFill>
                  <a:schemeClr val="bg1"/>
                </a:solidFill>
                <a:latin typeface="Arial"/>
              </a:rPr>
              <a:t> = Re(Sₙ)</a:t>
            </a:r>
            <a:r>
              <a:rPr lang="en-US" sz="1250" b="0" i="0" dirty="0">
                <a:solidFill>
                  <a:schemeClr val="bg1"/>
                </a:solidFill>
                <a:latin typeface="Arial"/>
              </a:rPr>
              <a:t> * </a:t>
            </a:r>
            <a:r>
              <a:rPr sz="1250" b="0" i="0" dirty="0" err="1">
                <a:solidFill>
                  <a:schemeClr val="bg1"/>
                </a:solidFill>
                <a:latin typeface="Arial"/>
              </a:rPr>
              <a:t>csk_imag</a:t>
            </a:r>
            <a:r>
              <a:rPr sz="1250" b="0" i="0" dirty="0">
                <a:solidFill>
                  <a:schemeClr val="bg1"/>
                </a:solidFill>
                <a:latin typeface="Arial"/>
              </a:rPr>
              <a:t> + </a:t>
            </a:r>
            <a:r>
              <a:rPr sz="1250" b="0" i="0" dirty="0" err="1">
                <a:solidFill>
                  <a:schemeClr val="bg1"/>
                </a:solidFill>
                <a:latin typeface="Arial"/>
              </a:rPr>
              <a:t>Im</a:t>
            </a:r>
            <a:r>
              <a:rPr sz="1250" b="0" i="0" dirty="0">
                <a:solidFill>
                  <a:schemeClr val="bg1"/>
                </a:solidFill>
                <a:latin typeface="Arial"/>
              </a:rPr>
              <a:t>(Sₙ)</a:t>
            </a:r>
            <a:r>
              <a:rPr lang="en-US" sz="1250" b="0" i="0" dirty="0">
                <a:solidFill>
                  <a:schemeClr val="bg1"/>
                </a:solidFill>
                <a:latin typeface="Arial"/>
              </a:rPr>
              <a:t> * </a:t>
            </a:r>
            <a:r>
              <a:rPr sz="1250" b="0" i="0" dirty="0" err="1">
                <a:solidFill>
                  <a:schemeClr val="bg1"/>
                </a:solidFill>
                <a:latin typeface="Arial"/>
              </a:rPr>
              <a:t>csk_real</a:t>
            </a:r>
            <a:endParaRPr sz="1250" b="0" i="0" dirty="0">
              <a:solidFill>
                <a:schemeClr val="bg1"/>
              </a:solidFill>
              <a:latin typeface="Arial"/>
            </a:endParaRPr>
          </a:p>
        </p:txBody>
      </p:sp>
      <p:sp>
        <p:nvSpPr>
          <p:cNvPr id="38" name="TextBox 11">
            <a:extLst>
              <a:ext uri="{FF2B5EF4-FFF2-40B4-BE49-F238E27FC236}">
                <a16:creationId xmlns:a16="http://schemas.microsoft.com/office/drawing/2014/main" id="{9E290468-1AED-B9BB-FB68-0EFCF587D578}"/>
              </a:ext>
            </a:extLst>
          </p:cNvPr>
          <p:cNvSpPr txBox="1"/>
          <p:nvPr/>
        </p:nvSpPr>
        <p:spPr>
          <a:xfrm>
            <a:off x="6370320" y="2071116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1450" b="1" i="0" dirty="0">
                <a:solidFill>
                  <a:srgbClr val="141414"/>
                </a:solidFill>
                <a:latin typeface="Bookman Old Style"/>
              </a:rPr>
              <a:t>HARDWARE OPTIMIZATION</a:t>
            </a:r>
          </a:p>
        </p:txBody>
      </p:sp>
      <p:sp>
        <p:nvSpPr>
          <p:cNvPr id="39" name="TextBox 12">
            <a:extLst>
              <a:ext uri="{FF2B5EF4-FFF2-40B4-BE49-F238E27FC236}">
                <a16:creationId xmlns:a16="http://schemas.microsoft.com/office/drawing/2014/main" id="{BDF6FB7E-10C5-75D7-4CEF-2C063190C487}"/>
              </a:ext>
            </a:extLst>
          </p:cNvPr>
          <p:cNvSpPr txBox="1"/>
          <p:nvPr/>
        </p:nvSpPr>
        <p:spPr>
          <a:xfrm>
            <a:off x="6370320" y="2455164"/>
            <a:ext cx="5166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1250" b="0" i="0">
                <a:solidFill>
                  <a:srgbClr val="141414"/>
                </a:solidFill>
                <a:latin typeface="Arial"/>
              </a:rPr>
              <a:t>The DQPSK symbol has only four possible phases. Therefore, the hardware avoids a full complex multiplier and uses simple sign changes, additions, and subtractions.</a:t>
            </a:r>
          </a:p>
        </p:txBody>
      </p:sp>
      <p:pic>
        <p:nvPicPr>
          <p:cNvPr id="40" name="table">
            <a:extLst>
              <a:ext uri="{FF2B5EF4-FFF2-40B4-BE49-F238E27FC236}">
                <a16:creationId xmlns:a16="http://schemas.microsoft.com/office/drawing/2014/main" id="{7FBCC0FE-5FC5-69FD-9D87-72CF0071E9C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70320" y="3453593"/>
            <a:ext cx="5330067" cy="23319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875538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28E2601-6164-49C0-94F9-E192652CBD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05EAE4AC-9BE4-8BAA-1F5B-7E0FEA3701DB}"/>
              </a:ext>
            </a:extLst>
          </p:cNvPr>
          <p:cNvSpPr txBox="1"/>
          <p:nvPr/>
        </p:nvSpPr>
        <p:spPr>
          <a:xfrm>
            <a:off x="11368735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1000" dirty="0"/>
          </a:p>
        </p:txBody>
      </p:sp>
      <p:pic>
        <p:nvPicPr>
          <p:cNvPr id="3" name="Image 0" descr="/home/claude/css_pptx/logo_cropped.png">
            <a:extLst>
              <a:ext uri="{FF2B5EF4-FFF2-40B4-BE49-F238E27FC236}">
                <a16:creationId xmlns:a16="http://schemas.microsoft.com/office/drawing/2014/main" id="{3CD84D00-8EFF-3BBD-BC63-91B2210AE7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57255" y="256032"/>
            <a:ext cx="914400" cy="541378"/>
          </a:xfrm>
          <a:prstGeom prst="rect">
            <a:avLst/>
          </a:prstGeom>
        </p:spPr>
      </p:pic>
      <p:sp>
        <p:nvSpPr>
          <p:cNvPr id="4" name="Text 1">
            <a:extLst>
              <a:ext uri="{FF2B5EF4-FFF2-40B4-BE49-F238E27FC236}">
                <a16:creationId xmlns:a16="http://schemas.microsoft.com/office/drawing/2014/main" id="{A4A20D10-9D6E-E8B4-AF5A-242FD2F6F68F}"/>
              </a:ext>
            </a:extLst>
          </p:cNvPr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5383B"/>
                </a:solidFill>
                <a:latin typeface="Arial" pitchFamily="34" charset="0"/>
                <a:cs typeface="Arial" pitchFamily="34" charset="-120"/>
              </a:rPr>
              <a:t>FPGA</a:t>
            </a:r>
            <a:endParaRPr lang="en-US" sz="1200" dirty="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F11D7D1F-EE86-9FCE-630E-4CD349023BC1}"/>
              </a:ext>
            </a:extLst>
          </p:cNvPr>
          <p:cNvSpPr txBox="1"/>
          <p:nvPr/>
        </p:nvSpPr>
        <p:spPr>
          <a:xfrm>
            <a:off x="548640" y="658368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7A0C0C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FPGA Implementation: Synthesis </a:t>
            </a:r>
            <a:endParaRPr lang="en-US" sz="30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9AEE19F-F313-01B5-AF9F-E2639D819BB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569924" y="1481328"/>
            <a:ext cx="8473031" cy="47660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749031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BB4A493-D55C-1ADC-D6B2-29AB72DC1C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7A69040B-7967-956C-6E30-0A2047A3FA52}"/>
              </a:ext>
            </a:extLst>
          </p:cNvPr>
          <p:cNvSpPr txBox="1"/>
          <p:nvPr/>
        </p:nvSpPr>
        <p:spPr>
          <a:xfrm>
            <a:off x="11368735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1000" dirty="0"/>
          </a:p>
        </p:txBody>
      </p:sp>
      <p:pic>
        <p:nvPicPr>
          <p:cNvPr id="3" name="Image 0" descr="/home/claude/css_pptx/logo_cropped.png">
            <a:extLst>
              <a:ext uri="{FF2B5EF4-FFF2-40B4-BE49-F238E27FC236}">
                <a16:creationId xmlns:a16="http://schemas.microsoft.com/office/drawing/2014/main" id="{11C96E4E-79EE-261C-E670-032F2C0E84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57255" y="256032"/>
            <a:ext cx="914400" cy="541378"/>
          </a:xfrm>
          <a:prstGeom prst="rect">
            <a:avLst/>
          </a:prstGeom>
        </p:spPr>
      </p:pic>
      <p:sp>
        <p:nvSpPr>
          <p:cNvPr id="4" name="Text 1">
            <a:extLst>
              <a:ext uri="{FF2B5EF4-FFF2-40B4-BE49-F238E27FC236}">
                <a16:creationId xmlns:a16="http://schemas.microsoft.com/office/drawing/2014/main" id="{C01514D5-0CE1-CADF-9952-15E7F005CEBF}"/>
              </a:ext>
            </a:extLst>
          </p:cNvPr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5383B"/>
                </a:solidFill>
                <a:latin typeface="Arial" pitchFamily="34" charset="0"/>
                <a:cs typeface="Arial" pitchFamily="34" charset="-120"/>
              </a:rPr>
              <a:t>FPGA</a:t>
            </a:r>
            <a:endParaRPr lang="en-US" sz="1200" dirty="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90F7DC01-9F78-E139-2364-C2AC715CD28D}"/>
              </a:ext>
            </a:extLst>
          </p:cNvPr>
          <p:cNvSpPr txBox="1"/>
          <p:nvPr/>
        </p:nvSpPr>
        <p:spPr>
          <a:xfrm>
            <a:off x="548640" y="658368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7A0C0C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FPGA Implementation: Implementation</a:t>
            </a:r>
            <a:endParaRPr lang="en-US" sz="30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CB57641-4359-E281-B7BC-DB692A8F1D2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395022" y="1481328"/>
            <a:ext cx="8822835" cy="4962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549201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6C7C289-A692-22C7-7018-B913A20548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563C3C4F-FA82-5B07-DFAF-6D3B6EF2461B}"/>
              </a:ext>
            </a:extLst>
          </p:cNvPr>
          <p:cNvSpPr txBox="1"/>
          <p:nvPr/>
        </p:nvSpPr>
        <p:spPr>
          <a:xfrm>
            <a:off x="11368735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1000" dirty="0"/>
          </a:p>
        </p:txBody>
      </p:sp>
      <p:pic>
        <p:nvPicPr>
          <p:cNvPr id="3" name="Image 0" descr="/home/claude/css_pptx/logo_cropped.png">
            <a:extLst>
              <a:ext uri="{FF2B5EF4-FFF2-40B4-BE49-F238E27FC236}">
                <a16:creationId xmlns:a16="http://schemas.microsoft.com/office/drawing/2014/main" id="{C2806825-9CDF-009F-656D-EDA0790D0A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57255" y="256032"/>
            <a:ext cx="914400" cy="541378"/>
          </a:xfrm>
          <a:prstGeom prst="rect">
            <a:avLst/>
          </a:prstGeom>
        </p:spPr>
      </p:pic>
      <p:sp>
        <p:nvSpPr>
          <p:cNvPr id="4" name="Text 1">
            <a:extLst>
              <a:ext uri="{FF2B5EF4-FFF2-40B4-BE49-F238E27FC236}">
                <a16:creationId xmlns:a16="http://schemas.microsoft.com/office/drawing/2014/main" id="{6216E71C-F997-2343-FEED-947E058BE0C5}"/>
              </a:ext>
            </a:extLst>
          </p:cNvPr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5383B"/>
                </a:solidFill>
                <a:latin typeface="Arial" pitchFamily="34" charset="0"/>
                <a:cs typeface="Arial" pitchFamily="34" charset="-120"/>
              </a:rPr>
              <a:t>FPGA</a:t>
            </a:r>
            <a:endParaRPr lang="en-US" sz="1200" dirty="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0B3F90FB-271D-2FE5-5509-092CC3386ED9}"/>
              </a:ext>
            </a:extLst>
          </p:cNvPr>
          <p:cNvSpPr txBox="1"/>
          <p:nvPr/>
        </p:nvSpPr>
        <p:spPr>
          <a:xfrm>
            <a:off x="548640" y="658368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7A0C0C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FPGA Implementation: Bitstream </a:t>
            </a:r>
            <a:endParaRPr lang="en-US" sz="30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E5D3164-11A7-8594-08E5-441EAB0E1BE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699924" y="1481328"/>
            <a:ext cx="8209143" cy="46176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022383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368735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1000" dirty="0"/>
          </a:p>
        </p:txBody>
      </p:sp>
      <p:pic>
        <p:nvPicPr>
          <p:cNvPr id="3" name="Image 0" descr="/home/claude/css_pptx/logo_cropp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57255" y="256032"/>
            <a:ext cx="914400" cy="54137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538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VERIFICATION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658368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7A0C0C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Hardware Verification Strategy</a:t>
            </a:r>
            <a:endParaRPr lang="en-US" sz="30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50876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complementary methods were used across the design flow.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1400750" y="2103120"/>
            <a:ext cx="3429000" cy="3566160"/>
          </a:xfrm>
          <a:prstGeom prst="roundRect">
            <a:avLst>
              <a:gd name="adj" fmla="val 2133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1675070" y="2377440"/>
            <a:ext cx="502920" cy="502920"/>
          </a:xfrm>
          <a:prstGeom prst="ellipse">
            <a:avLst/>
          </a:prstGeom>
          <a:solidFill>
            <a:srgbClr val="C1121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 txBox="1"/>
          <p:nvPr/>
        </p:nvSpPr>
        <p:spPr>
          <a:xfrm>
            <a:off x="1675070" y="2377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1675070" y="3017520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550" b="1" dirty="0">
                <a:solidFill>
                  <a:srgbClr val="7A0C0C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HDL Testbenches</a:t>
            </a:r>
            <a:endParaRPr lang="en-US" sz="1550" dirty="0"/>
          </a:p>
        </p:txBody>
      </p:sp>
      <p:sp>
        <p:nvSpPr>
          <p:cNvPr id="11" name="Text 8"/>
          <p:cNvSpPr txBox="1"/>
          <p:nvPr/>
        </p:nvSpPr>
        <p:spPr>
          <a:xfrm>
            <a:off x="1675070" y="3520440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E538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PRE-PROGRAMMING</a:t>
            </a:r>
            <a:endParaRPr lang="en-US" sz="1000" dirty="0"/>
          </a:p>
        </p:txBody>
      </p:sp>
      <p:sp>
        <p:nvSpPr>
          <p:cNvPr id="12" name="Text 9"/>
          <p:cNvSpPr txBox="1"/>
          <p:nvPr/>
        </p:nvSpPr>
        <p:spPr>
          <a:xfrm>
            <a:off x="1675070" y="3931920"/>
            <a:ext cx="2880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Self-contained Verilog testbenches with a stimulus generator and verifier, used for unit testing of individual modules against known values.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6838975" y="2103120"/>
            <a:ext cx="3429000" cy="3566160"/>
          </a:xfrm>
          <a:prstGeom prst="roundRect">
            <a:avLst>
              <a:gd name="adj" fmla="val 2133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7113295" y="2377440"/>
            <a:ext cx="502920" cy="502920"/>
          </a:xfrm>
          <a:prstGeom prst="ellipse">
            <a:avLst/>
          </a:prstGeom>
          <a:solidFill>
            <a:srgbClr val="C1121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 txBox="1"/>
          <p:nvPr/>
        </p:nvSpPr>
        <p:spPr>
          <a:xfrm>
            <a:off x="7113295" y="2377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7113295" y="3017520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550" b="1" dirty="0">
                <a:solidFill>
                  <a:srgbClr val="7A0C0C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EDA Simulator Link</a:t>
            </a:r>
            <a:endParaRPr lang="en-US" sz="1550" dirty="0"/>
          </a:p>
        </p:txBody>
      </p:sp>
      <p:sp>
        <p:nvSpPr>
          <p:cNvPr id="17" name="Text 14"/>
          <p:cNvSpPr txBox="1"/>
          <p:nvPr/>
        </p:nvSpPr>
        <p:spPr>
          <a:xfrm>
            <a:off x="7113295" y="3520440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E538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PRE-PROGRAMMING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7113295" y="4023359"/>
            <a:ext cx="2880360" cy="987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Bidirectional MATLAB ↔ ModelSim link. MATLAB supplies stimulus and checks HDL output against the fixed-point reference — faster debugging, no file I/O overhead.</a:t>
            </a:r>
            <a:endParaRPr lang="en-US" sz="11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7A0C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1"/>
          <p:cNvSpPr/>
          <p:nvPr/>
        </p:nvSpPr>
        <p:spPr>
          <a:xfrm>
            <a:off x="548640" y="5961888"/>
            <a:ext cx="0" cy="146304"/>
          </a:xfrm>
          <a:prstGeom prst="line">
            <a:avLst/>
          </a:prstGeom>
          <a:noFill/>
          <a:ln w="17780">
            <a:solidFill>
              <a:srgbClr val="D90429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2"/>
          <p:cNvSpPr/>
          <p:nvPr/>
        </p:nvSpPr>
        <p:spPr>
          <a:xfrm>
            <a:off x="789823" y="5864522"/>
            <a:ext cx="0" cy="341036"/>
          </a:xfrm>
          <a:prstGeom prst="line">
            <a:avLst/>
          </a:prstGeom>
          <a:noFill/>
          <a:ln w="17780">
            <a:solidFill>
              <a:srgbClr val="E5383B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1031006" y="5771656"/>
            <a:ext cx="0" cy="526769"/>
          </a:xfrm>
          <a:prstGeom prst="line">
            <a:avLst/>
          </a:prstGeom>
          <a:noFill/>
          <a:ln w="17780">
            <a:solidFill>
              <a:srgbClr val="E5383B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1272189" y="5695709"/>
            <a:ext cx="0" cy="678663"/>
          </a:xfrm>
          <a:prstGeom prst="line">
            <a:avLst/>
          </a:prstGeom>
          <a:noFill/>
          <a:ln w="17780">
            <a:solidFill>
              <a:srgbClr val="D90429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1513372" y="5649894"/>
            <a:ext cx="0" cy="770292"/>
          </a:xfrm>
          <a:prstGeom prst="line">
            <a:avLst/>
          </a:prstGeom>
          <a:noFill/>
          <a:ln w="17780">
            <a:solidFill>
              <a:srgbClr val="E5383B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1754555" y="5645808"/>
            <a:ext cx="0" cy="778465"/>
          </a:xfrm>
          <a:prstGeom prst="line">
            <a:avLst/>
          </a:prstGeom>
          <a:noFill/>
          <a:ln w="17780">
            <a:solidFill>
              <a:srgbClr val="E5383B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1995738" y="5690376"/>
            <a:ext cx="0" cy="689328"/>
          </a:xfrm>
          <a:prstGeom prst="line">
            <a:avLst/>
          </a:prstGeom>
          <a:noFill/>
          <a:ln w="17780">
            <a:solidFill>
              <a:srgbClr val="D90429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2236921" y="5782715"/>
            <a:ext cx="0" cy="504651"/>
          </a:xfrm>
          <a:prstGeom prst="line">
            <a:avLst/>
          </a:prstGeom>
          <a:noFill/>
          <a:ln w="17780">
            <a:solidFill>
              <a:srgbClr val="E5383B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2478104" y="5911770"/>
            <a:ext cx="0" cy="246539"/>
          </a:xfrm>
          <a:prstGeom prst="line">
            <a:avLst/>
          </a:prstGeom>
          <a:noFill/>
          <a:ln w="17780">
            <a:solidFill>
              <a:srgbClr val="E5383B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2719286" y="5867930"/>
            <a:ext cx="0" cy="334220"/>
          </a:xfrm>
          <a:prstGeom prst="line">
            <a:avLst/>
          </a:prstGeom>
          <a:noFill/>
          <a:ln w="17780">
            <a:solidFill>
              <a:srgbClr val="D90429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2960469" y="5738764"/>
            <a:ext cx="0" cy="592552"/>
          </a:xfrm>
          <a:prstGeom prst="line">
            <a:avLst/>
          </a:prstGeom>
          <a:noFill/>
          <a:ln w="17780">
            <a:solidFill>
              <a:srgbClr val="E5383B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3201652" y="5656870"/>
            <a:ext cx="0" cy="756339"/>
          </a:xfrm>
          <a:prstGeom prst="line">
            <a:avLst/>
          </a:prstGeom>
          <a:noFill/>
          <a:ln w="17780">
            <a:solidFill>
              <a:srgbClr val="E5383B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3442835" y="5648381"/>
            <a:ext cx="0" cy="773319"/>
          </a:xfrm>
          <a:prstGeom prst="line">
            <a:avLst/>
          </a:prstGeom>
          <a:noFill/>
          <a:ln w="17780">
            <a:solidFill>
              <a:srgbClr val="D90429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3684018" y="5723542"/>
            <a:ext cx="0" cy="622996"/>
          </a:xfrm>
          <a:prstGeom prst="line">
            <a:avLst/>
          </a:prstGeom>
          <a:noFill/>
          <a:ln w="17780">
            <a:solidFill>
              <a:srgbClr val="E5383B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5"/>
          <p:cNvSpPr/>
          <p:nvPr/>
        </p:nvSpPr>
        <p:spPr>
          <a:xfrm>
            <a:off x="3925201" y="5869262"/>
            <a:ext cx="0" cy="331555"/>
          </a:xfrm>
          <a:prstGeom prst="line">
            <a:avLst/>
          </a:prstGeom>
          <a:noFill/>
          <a:ln w="17780">
            <a:solidFill>
              <a:srgbClr val="E5383B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6"/>
          <p:cNvSpPr/>
          <p:nvPr/>
        </p:nvSpPr>
        <p:spPr>
          <a:xfrm>
            <a:off x="4166384" y="5876165"/>
            <a:ext cx="0" cy="317750"/>
          </a:xfrm>
          <a:prstGeom prst="line">
            <a:avLst/>
          </a:prstGeom>
          <a:noFill/>
          <a:ln w="17780">
            <a:solidFill>
              <a:srgbClr val="D90429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7"/>
          <p:cNvSpPr/>
          <p:nvPr/>
        </p:nvSpPr>
        <p:spPr>
          <a:xfrm>
            <a:off x="4407567" y="5720562"/>
            <a:ext cx="0" cy="628956"/>
          </a:xfrm>
          <a:prstGeom prst="line">
            <a:avLst/>
          </a:prstGeom>
          <a:noFill/>
          <a:ln w="17780">
            <a:solidFill>
              <a:srgbClr val="E5383B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8"/>
          <p:cNvSpPr/>
          <p:nvPr/>
        </p:nvSpPr>
        <p:spPr>
          <a:xfrm>
            <a:off x="4648750" y="5643972"/>
            <a:ext cx="0" cy="782135"/>
          </a:xfrm>
          <a:prstGeom prst="line">
            <a:avLst/>
          </a:prstGeom>
          <a:noFill/>
          <a:ln w="17780">
            <a:solidFill>
              <a:srgbClr val="E5383B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19"/>
          <p:cNvSpPr/>
          <p:nvPr/>
        </p:nvSpPr>
        <p:spPr>
          <a:xfrm>
            <a:off x="4889933" y="5681686"/>
            <a:ext cx="0" cy="706709"/>
          </a:xfrm>
          <a:prstGeom prst="line">
            <a:avLst/>
          </a:prstGeom>
          <a:noFill/>
          <a:ln w="17780">
            <a:solidFill>
              <a:srgbClr val="D90429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0"/>
          <p:cNvSpPr/>
          <p:nvPr/>
        </p:nvSpPr>
        <p:spPr>
          <a:xfrm>
            <a:off x="5131116" y="5828854"/>
            <a:ext cx="0" cy="412373"/>
          </a:xfrm>
          <a:prstGeom prst="line">
            <a:avLst/>
          </a:prstGeom>
          <a:noFill/>
          <a:ln w="17780">
            <a:solidFill>
              <a:srgbClr val="E5383B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1"/>
          <p:cNvSpPr/>
          <p:nvPr/>
        </p:nvSpPr>
        <p:spPr>
          <a:xfrm>
            <a:off x="5372299" y="5889738"/>
            <a:ext cx="0" cy="290604"/>
          </a:xfrm>
          <a:prstGeom prst="line">
            <a:avLst/>
          </a:prstGeom>
          <a:noFill/>
          <a:ln w="17780">
            <a:solidFill>
              <a:srgbClr val="E5383B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2"/>
          <p:cNvSpPr/>
          <p:nvPr/>
        </p:nvSpPr>
        <p:spPr>
          <a:xfrm>
            <a:off x="5613482" y="5710846"/>
            <a:ext cx="0" cy="648389"/>
          </a:xfrm>
          <a:prstGeom prst="line">
            <a:avLst/>
          </a:prstGeom>
          <a:noFill/>
          <a:ln w="17780">
            <a:solidFill>
              <a:srgbClr val="D90429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3"/>
          <p:cNvSpPr/>
          <p:nvPr/>
        </p:nvSpPr>
        <p:spPr>
          <a:xfrm>
            <a:off x="5854665" y="5641937"/>
            <a:ext cx="0" cy="786206"/>
          </a:xfrm>
          <a:prstGeom prst="line">
            <a:avLst/>
          </a:prstGeom>
          <a:noFill/>
          <a:ln w="17780">
            <a:solidFill>
              <a:srgbClr val="E5383B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4"/>
          <p:cNvSpPr/>
          <p:nvPr/>
        </p:nvSpPr>
        <p:spPr>
          <a:xfrm>
            <a:off x="6095848" y="5724349"/>
            <a:ext cx="0" cy="621381"/>
          </a:xfrm>
          <a:prstGeom prst="line">
            <a:avLst/>
          </a:prstGeom>
          <a:noFill/>
          <a:ln w="17780">
            <a:solidFill>
              <a:srgbClr val="E5383B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5"/>
          <p:cNvSpPr/>
          <p:nvPr/>
        </p:nvSpPr>
        <p:spPr>
          <a:xfrm>
            <a:off x="6337031" y="5927633"/>
            <a:ext cx="0" cy="214815"/>
          </a:xfrm>
          <a:prstGeom prst="line">
            <a:avLst/>
          </a:prstGeom>
          <a:noFill/>
          <a:ln w="17780">
            <a:solidFill>
              <a:srgbClr val="D90429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6"/>
          <p:cNvSpPr/>
          <p:nvPr/>
        </p:nvSpPr>
        <p:spPr>
          <a:xfrm>
            <a:off x="6578213" y="5770723"/>
            <a:ext cx="0" cy="528634"/>
          </a:xfrm>
          <a:prstGeom prst="line">
            <a:avLst/>
          </a:prstGeom>
          <a:noFill/>
          <a:ln w="17780">
            <a:solidFill>
              <a:srgbClr val="E5383B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7"/>
          <p:cNvSpPr/>
          <p:nvPr/>
        </p:nvSpPr>
        <p:spPr>
          <a:xfrm>
            <a:off x="6819396" y="5646194"/>
            <a:ext cx="0" cy="777691"/>
          </a:xfrm>
          <a:prstGeom prst="line">
            <a:avLst/>
          </a:prstGeom>
          <a:noFill/>
          <a:ln w="17780">
            <a:solidFill>
              <a:srgbClr val="E5383B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8"/>
          <p:cNvSpPr/>
          <p:nvPr/>
        </p:nvSpPr>
        <p:spPr>
          <a:xfrm>
            <a:off x="7060579" y="5701214"/>
            <a:ext cx="0" cy="667653"/>
          </a:xfrm>
          <a:prstGeom prst="line">
            <a:avLst/>
          </a:prstGeom>
          <a:noFill/>
          <a:ln w="17780">
            <a:solidFill>
              <a:srgbClr val="D90429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29"/>
          <p:cNvSpPr/>
          <p:nvPr/>
        </p:nvSpPr>
        <p:spPr>
          <a:xfrm>
            <a:off x="7301762" y="5914156"/>
            <a:ext cx="0" cy="241768"/>
          </a:xfrm>
          <a:prstGeom prst="line">
            <a:avLst/>
          </a:prstGeom>
          <a:noFill/>
          <a:ln w="17780">
            <a:solidFill>
              <a:srgbClr val="E5383B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0"/>
          <p:cNvSpPr/>
          <p:nvPr/>
        </p:nvSpPr>
        <p:spPr>
          <a:xfrm>
            <a:off x="7542945" y="5762964"/>
            <a:ext cx="0" cy="544152"/>
          </a:xfrm>
          <a:prstGeom prst="line">
            <a:avLst/>
          </a:prstGeom>
          <a:noFill/>
          <a:ln w="17780">
            <a:solidFill>
              <a:srgbClr val="E5383B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1"/>
          <p:cNvSpPr/>
          <p:nvPr/>
        </p:nvSpPr>
        <p:spPr>
          <a:xfrm>
            <a:off x="7784128" y="5642450"/>
            <a:ext cx="0" cy="785179"/>
          </a:xfrm>
          <a:prstGeom prst="line">
            <a:avLst/>
          </a:prstGeom>
          <a:noFill/>
          <a:ln w="17780">
            <a:solidFill>
              <a:srgbClr val="D90429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2"/>
          <p:cNvSpPr/>
          <p:nvPr/>
        </p:nvSpPr>
        <p:spPr>
          <a:xfrm>
            <a:off x="8025311" y="5737903"/>
            <a:ext cx="0" cy="594273"/>
          </a:xfrm>
          <a:prstGeom prst="line">
            <a:avLst/>
          </a:prstGeom>
          <a:noFill/>
          <a:ln w="17780">
            <a:solidFill>
              <a:srgbClr val="E5383B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3"/>
          <p:cNvSpPr/>
          <p:nvPr/>
        </p:nvSpPr>
        <p:spPr>
          <a:xfrm>
            <a:off x="8266494" y="5929934"/>
            <a:ext cx="0" cy="210211"/>
          </a:xfrm>
          <a:prstGeom prst="line">
            <a:avLst/>
          </a:prstGeom>
          <a:noFill/>
          <a:ln w="17780">
            <a:solidFill>
              <a:srgbClr val="E5383B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4"/>
          <p:cNvSpPr/>
          <p:nvPr/>
        </p:nvSpPr>
        <p:spPr>
          <a:xfrm>
            <a:off x="8507677" y="5693715"/>
            <a:ext cx="0" cy="682649"/>
          </a:xfrm>
          <a:prstGeom prst="line">
            <a:avLst/>
          </a:prstGeom>
          <a:noFill/>
          <a:ln w="17780">
            <a:solidFill>
              <a:srgbClr val="D90429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5"/>
          <p:cNvSpPr/>
          <p:nvPr/>
        </p:nvSpPr>
        <p:spPr>
          <a:xfrm>
            <a:off x="8748860" y="5659579"/>
            <a:ext cx="0" cy="750922"/>
          </a:xfrm>
          <a:prstGeom prst="line">
            <a:avLst/>
          </a:prstGeom>
          <a:noFill/>
          <a:ln w="17780">
            <a:solidFill>
              <a:srgbClr val="E5383B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6"/>
          <p:cNvSpPr/>
          <p:nvPr/>
        </p:nvSpPr>
        <p:spPr>
          <a:xfrm>
            <a:off x="8990043" y="5865365"/>
            <a:ext cx="0" cy="339349"/>
          </a:xfrm>
          <a:prstGeom prst="line">
            <a:avLst/>
          </a:prstGeom>
          <a:noFill/>
          <a:ln w="17780">
            <a:solidFill>
              <a:srgbClr val="E5383B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7"/>
          <p:cNvSpPr/>
          <p:nvPr/>
        </p:nvSpPr>
        <p:spPr>
          <a:xfrm>
            <a:off x="9231226" y="5770275"/>
            <a:ext cx="0" cy="529529"/>
          </a:xfrm>
          <a:prstGeom prst="line">
            <a:avLst/>
          </a:prstGeom>
          <a:noFill/>
          <a:ln w="17780">
            <a:solidFill>
              <a:srgbClr val="D90429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8"/>
          <p:cNvSpPr/>
          <p:nvPr/>
        </p:nvSpPr>
        <p:spPr>
          <a:xfrm>
            <a:off x="9472409" y="5642074"/>
            <a:ext cx="0" cy="785931"/>
          </a:xfrm>
          <a:prstGeom prst="line">
            <a:avLst/>
          </a:prstGeom>
          <a:noFill/>
          <a:ln w="17780">
            <a:solidFill>
              <a:srgbClr val="E5383B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Shape 39"/>
          <p:cNvSpPr/>
          <p:nvPr/>
        </p:nvSpPr>
        <p:spPr>
          <a:xfrm>
            <a:off x="9713592" y="5795046"/>
            <a:ext cx="0" cy="479989"/>
          </a:xfrm>
          <a:prstGeom prst="line">
            <a:avLst/>
          </a:prstGeom>
          <a:noFill/>
          <a:ln w="17780">
            <a:solidFill>
              <a:srgbClr val="E5383B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Shape 40"/>
          <p:cNvSpPr/>
          <p:nvPr/>
        </p:nvSpPr>
        <p:spPr>
          <a:xfrm>
            <a:off x="9954775" y="5821343"/>
            <a:ext cx="0" cy="427394"/>
          </a:xfrm>
          <a:prstGeom prst="line">
            <a:avLst/>
          </a:prstGeom>
          <a:noFill/>
          <a:ln w="17780">
            <a:solidFill>
              <a:srgbClr val="D90429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Shape 41"/>
          <p:cNvSpPr/>
          <p:nvPr/>
        </p:nvSpPr>
        <p:spPr>
          <a:xfrm>
            <a:off x="10195958" y="5643286"/>
            <a:ext cx="0" cy="783507"/>
          </a:xfrm>
          <a:prstGeom prst="line">
            <a:avLst/>
          </a:prstGeom>
          <a:noFill/>
          <a:ln w="17780">
            <a:solidFill>
              <a:srgbClr val="E5383B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Shape 42"/>
          <p:cNvSpPr/>
          <p:nvPr/>
        </p:nvSpPr>
        <p:spPr>
          <a:xfrm>
            <a:off x="10437141" y="5774355"/>
            <a:ext cx="0" cy="521370"/>
          </a:xfrm>
          <a:prstGeom prst="line">
            <a:avLst/>
          </a:prstGeom>
          <a:noFill/>
          <a:ln w="17780">
            <a:solidFill>
              <a:srgbClr val="E5383B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Shape 43"/>
          <p:cNvSpPr/>
          <p:nvPr/>
        </p:nvSpPr>
        <p:spPr>
          <a:xfrm>
            <a:off x="10678323" y="5827963"/>
            <a:ext cx="0" cy="414154"/>
          </a:xfrm>
          <a:prstGeom prst="line">
            <a:avLst/>
          </a:prstGeom>
          <a:noFill/>
          <a:ln w="17780">
            <a:solidFill>
              <a:srgbClr val="D90429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Shape 44"/>
          <p:cNvSpPr/>
          <p:nvPr/>
        </p:nvSpPr>
        <p:spPr>
          <a:xfrm>
            <a:off x="10919506" y="5642482"/>
            <a:ext cx="0" cy="785116"/>
          </a:xfrm>
          <a:prstGeom prst="line">
            <a:avLst/>
          </a:prstGeom>
          <a:noFill/>
          <a:ln w="17780">
            <a:solidFill>
              <a:srgbClr val="E5383B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Shape 45"/>
          <p:cNvSpPr/>
          <p:nvPr/>
        </p:nvSpPr>
        <p:spPr>
          <a:xfrm>
            <a:off x="11160689" y="5797507"/>
            <a:ext cx="0" cy="475065"/>
          </a:xfrm>
          <a:prstGeom prst="line">
            <a:avLst/>
          </a:prstGeom>
          <a:noFill/>
          <a:ln w="17780">
            <a:solidFill>
              <a:srgbClr val="E5383B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Shape 46"/>
          <p:cNvSpPr/>
          <p:nvPr/>
        </p:nvSpPr>
        <p:spPr>
          <a:xfrm>
            <a:off x="11401872" y="5788322"/>
            <a:ext cx="0" cy="493436"/>
          </a:xfrm>
          <a:prstGeom prst="line">
            <a:avLst/>
          </a:prstGeom>
          <a:noFill/>
          <a:ln w="17780">
            <a:solidFill>
              <a:srgbClr val="D90429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7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B3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</a:t>
            </a:r>
            <a:endParaRPr lang="en-US" sz="1200" dirty="0"/>
          </a:p>
        </p:txBody>
      </p:sp>
      <p:sp>
        <p:nvSpPr>
          <p:cNvPr id="51" name="Text 48"/>
          <p:cNvSpPr txBox="1"/>
          <p:nvPr/>
        </p:nvSpPr>
        <p:spPr>
          <a:xfrm>
            <a:off x="644264" y="2156432"/>
            <a:ext cx="1027524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Thank you.</a:t>
            </a:r>
            <a:endParaRPr lang="en-US" sz="4400" dirty="0"/>
          </a:p>
        </p:txBody>
      </p:sp>
      <p:sp>
        <p:nvSpPr>
          <p:cNvPr id="58" name="Text 55"/>
          <p:cNvSpPr txBox="1"/>
          <p:nvPr/>
        </p:nvSpPr>
        <p:spPr>
          <a:xfrm>
            <a:off x="789823" y="3397802"/>
            <a:ext cx="2732722" cy="15075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i="1" dirty="0">
                <a:solidFill>
                  <a:srgbClr val="FFB3B3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Omar Waleed</a:t>
            </a:r>
          </a:p>
          <a:p>
            <a:r>
              <a:rPr lang="en-US" i="1" dirty="0">
                <a:solidFill>
                  <a:srgbClr val="FFB3B3"/>
                </a:solidFill>
                <a:latin typeface="Bookman Old Style" pitchFamily="34" charset="0"/>
              </a:rPr>
              <a:t>Ahmed </a:t>
            </a:r>
            <a:r>
              <a:rPr lang="en-US" i="1" dirty="0" err="1">
                <a:solidFill>
                  <a:srgbClr val="FFB3B3"/>
                </a:solidFill>
                <a:latin typeface="Bookman Old Style" pitchFamily="34" charset="0"/>
              </a:rPr>
              <a:t>Nossier</a:t>
            </a:r>
            <a:endParaRPr lang="en-US" i="1" dirty="0">
              <a:solidFill>
                <a:srgbClr val="FFB3B3"/>
              </a:solidFill>
              <a:latin typeface="Bookman Old Style" pitchFamily="34" charset="0"/>
            </a:endParaRPr>
          </a:p>
          <a:p>
            <a:r>
              <a:rPr lang="en-US" i="1" dirty="0">
                <a:solidFill>
                  <a:srgbClr val="FFB3B3"/>
                </a:solidFill>
                <a:latin typeface="Bookman Old Style" pitchFamily="34" charset="0"/>
              </a:rPr>
              <a:t>Jessica Bahaa</a:t>
            </a:r>
          </a:p>
        </p:txBody>
      </p:sp>
      <p:pic>
        <p:nvPicPr>
          <p:cNvPr id="60" name="Picture 59">
            <a:extLst>
              <a:ext uri="{FF2B5EF4-FFF2-40B4-BE49-F238E27FC236}">
                <a16:creationId xmlns:a16="http://schemas.microsoft.com/office/drawing/2014/main" id="{26D6CFEB-631C-768F-2050-9A28BF37F0A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1377" t="8540" r="25113" b="29965"/>
          <a:stretch>
            <a:fillRect/>
          </a:stretch>
        </p:blipFill>
        <p:spPr>
          <a:xfrm>
            <a:off x="10823882" y="74141"/>
            <a:ext cx="1155980" cy="774356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B532051-6641-16D9-9F25-5F9936DEE177}"/>
              </a:ext>
            </a:extLst>
          </p:cNvPr>
          <p:cNvSpPr txBox="1"/>
          <p:nvPr/>
        </p:nvSpPr>
        <p:spPr>
          <a:xfrm>
            <a:off x="9299882" y="3667283"/>
            <a:ext cx="3048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i="1" dirty="0">
                <a:solidFill>
                  <a:srgbClr val="FFB3B3"/>
                </a:solidFill>
                <a:latin typeface="Bookman Old Style" pitchFamily="34" charset="0"/>
              </a:rPr>
              <a:t>Ahmed </a:t>
            </a:r>
            <a:r>
              <a:rPr lang="en-US" sz="1800" i="1" dirty="0" err="1">
                <a:solidFill>
                  <a:srgbClr val="FFB3B3"/>
                </a:solidFill>
                <a:latin typeface="Bookman Old Style" pitchFamily="34" charset="0"/>
              </a:rPr>
              <a:t>Naeim</a:t>
            </a:r>
            <a:endParaRPr lang="en-US" sz="1800" i="1" dirty="0">
              <a:solidFill>
                <a:srgbClr val="FFB3B3"/>
              </a:solidFill>
              <a:latin typeface="Bookman Old Style" pitchFamily="34" charset="0"/>
            </a:endParaRPr>
          </a:p>
          <a:p>
            <a:r>
              <a:rPr lang="en-US" sz="1800" i="1" dirty="0">
                <a:solidFill>
                  <a:srgbClr val="FFB3B3"/>
                </a:solidFill>
                <a:latin typeface="Bookman Old Style" pitchFamily="34" charset="0"/>
              </a:rPr>
              <a:t>Fatma Alzahraa Yasser</a:t>
            </a:r>
          </a:p>
          <a:p>
            <a:r>
              <a:rPr lang="en-US" sz="1800" i="1" dirty="0">
                <a:solidFill>
                  <a:srgbClr val="FFB3B3"/>
                </a:solidFill>
                <a:latin typeface="Bookman Old Style" pitchFamily="34" charset="0"/>
              </a:rPr>
              <a:t>Moaaz Mohsen 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840</TotalTime>
  <Words>1581</Words>
  <Application>Microsoft Office PowerPoint</Application>
  <PresentationFormat>Widescreen</PresentationFormat>
  <Paragraphs>291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Arial</vt:lpstr>
      <vt:lpstr>Bookman Old Style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omar waleed</cp:lastModifiedBy>
  <cp:revision>18</cp:revision>
  <dcterms:created xsi:type="dcterms:W3CDTF">2026-09-17T09:55:15Z</dcterms:created>
  <dcterms:modified xsi:type="dcterms:W3CDTF">2026-09-18T10:41:26Z</dcterms:modified>
</cp:coreProperties>
</file>